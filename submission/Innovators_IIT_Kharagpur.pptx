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1F3A"/>
                </a:solidFill>
              </a:rPr>
              <a:t>PR-AUC by input set (higher is better)</a:t>
            </a:r>
          </a:p>
        </c:rich>
      </c:tx>
      <c:layout/>
      <c:overlay val="0"/>
    </c:title>
    <c:autoTitleDeleted val="0"/>
    <c:plotArea>
      <c:barChart>
        <c:barDir val="bar"/>
        <c:grouping val="clustered"/>
        <c:ser>
          <c:idx val="0"/>
          <c:order val="0"/>
          <c:tx>
            <c:strRef>
              <c:f>Sheet1!$B$1</c:f>
              <c:strCache>
                <c:ptCount val="1"/>
                <c:pt idx="0">
                  <c:v>All test rows</c:v>
                </c:pt>
              </c:strCache>
            </c:strRef>
          </c:tx>
          <c:spPr>
            <a:solidFill>
              <a:srgbClr val="0F9D8F"/>
            </a:solidFill>
          </c:spPr>
          <c:cat>
            <c:strRef>
              <c:f>Sheet1!$A$2:$A$4</c:f>
              <c:strCache>
                <c:ptCount val="3"/>
                <c:pt idx="0">
                  <c:v>EHR + time of day</c:v>
                </c:pt>
                <c:pt idx="1">
                  <c:v>Sensor + time of day</c:v>
                </c:pt>
                <c:pt idx="2">
                  <c:v>Fused (all inputs)</c:v>
                </c:pt>
              </c:strCache>
            </c:strRef>
          </c:cat>
          <c:val>
            <c:numRef>
              <c:f>Sheet1!$B$2:$B$4</c:f>
              <c:numCache>
                <c:formatCode>General</c:formatCode>
                <c:ptCount val="3"/>
                <c:pt idx="0">
                  <c:v>0.9083</c:v>
                </c:pt>
                <c:pt idx="1">
                  <c:v>0.9733</c:v>
                </c:pt>
                <c:pt idx="2">
                  <c:v>0.975</c:v>
                </c:pt>
              </c:numCache>
            </c:numRef>
          </c:val>
        </c:ser>
        <c:ser>
          <c:idx val="1"/>
          <c:order val="1"/>
          <c:tx>
            <c:strRef>
              <c:f>Sheet1!$C$1</c:f>
              <c:strCache>
                <c:ptCount val="1"/>
                <c:pt idx="0">
                  <c:v>Glucose not yet high</c:v>
                </c:pt>
              </c:strCache>
            </c:strRef>
          </c:tx>
          <c:spPr>
            <a:solidFill>
              <a:srgbClr val="24497D"/>
            </a:solidFill>
          </c:spPr>
          <c:cat>
            <c:strRef>
              <c:f>Sheet1!$A$2:$A$4</c:f>
              <c:strCache>
                <c:ptCount val="3"/>
                <c:pt idx="0">
                  <c:v>EHR + time of day</c:v>
                </c:pt>
                <c:pt idx="1">
                  <c:v>Sensor + time of day</c:v>
                </c:pt>
                <c:pt idx="2">
                  <c:v>Fused (all inputs)</c:v>
                </c:pt>
              </c:strCache>
            </c:strRef>
          </c:cat>
          <c:val>
            <c:numRef>
              <c:f>Sheet1!$C$2:$C$4</c:f>
              <c:numCache>
                <c:formatCode>General</c:formatCode>
                <c:ptCount val="3"/>
                <c:pt idx="0">
                  <c:v>0.7478</c:v>
                </c:pt>
                <c:pt idx="1">
                  <c:v>0.8576</c:v>
                </c:pt>
                <c:pt idx="2">
                  <c:v>0.867</c:v>
                </c:pt>
              </c:numCache>
            </c:numRef>
          </c:val>
        </c:ser>
        <c:ser>
          <c:idx val="2"/>
          <c:order val="2"/>
          <c:tx>
            <c:strRef>
              <c:f>Sheet1!$D$1</c:f>
              <c:strCache>
                <c:ptCount val="1"/>
                <c:pt idx="0">
                  <c:v>During CGM gaps</c:v>
                </c:pt>
              </c:strCache>
            </c:strRef>
          </c:tx>
          <c:spPr>
            <a:solidFill>
              <a:srgbClr val="9A5B00"/>
            </a:solidFill>
          </c:spPr>
          <c:cat>
            <c:strRef>
              <c:f>Sheet1!$A$2:$A$4</c:f>
              <c:strCache>
                <c:ptCount val="3"/>
                <c:pt idx="0">
                  <c:v>EHR + time of day</c:v>
                </c:pt>
                <c:pt idx="1">
                  <c:v>Sensor + time of day</c:v>
                </c:pt>
                <c:pt idx="2">
                  <c:v>Fused (all inputs)</c:v>
                </c:pt>
              </c:strCache>
            </c:strRef>
          </c:cat>
          <c:val>
            <c:numRef>
              <c:f>Sheet1!$D$2:$D$4</c:f>
              <c:numCache>
                <c:formatCode>General</c:formatCode>
                <c:ptCount val="3"/>
                <c:pt idx="0">
                  <c:v>0.9177</c:v>
                </c:pt>
                <c:pt idx="1">
                  <c:v>0.9053</c:v>
                </c:pt>
                <c:pt idx="2">
                  <c:v>0.9201</c:v>
                </c:pt>
              </c:numCache>
            </c:numRef>
          </c:val>
        </c:ser>
        <c:dLbls>
          <c:numFmt formatCode="0.000" sourceLinked="0"/>
          <c:txPr>
            <a:bodyPr/>
            <a:lstStyle/>
            <a:p>
              <a:pPr>
                <a:defRPr sz="1000">
                  <a:solidFill>
                    <a:srgbClr val="0B1F3A"/>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axMin"/>
        </c:scaling>
        <c:delete val="0"/>
        <c:axPos val="l"/>
        <c:majorTickMark val="out"/>
        <c:minorTickMark val="none"/>
        <c:tickLblPos val="nextTo"/>
        <c:spPr>
          <a:ln>
            <a:solidFill>
              <a:srgbClr val="C9D1DC"/>
            </a:solidFill>
          </a:ln>
        </c:spPr>
        <c:txPr>
          <a:bodyPr/>
          <a:lstStyle/>
          <a:p>
            <a:pPr>
              <a:defRPr sz="1100">
                <a:solidFill>
                  <a:srgbClr val="0B1F3A"/>
                </a:solidFill>
              </a:defRPr>
            </a:pPr>
          </a:p>
        </c:txPr>
        <c:crossAx val="-2113994440"/>
        <c:crosses val="autoZero"/>
        <c:auto val="1"/>
        <c:lblAlgn val="ctr"/>
        <c:lblOffset val="100"/>
        <c:noMultiLvlLbl val="0"/>
      </c:catAx>
      <c:valAx>
        <c:axId val="-2113994440"/>
        <c:scaling>
          <c:max val="1.0"/>
          <c:min val="0.5"/>
        </c:scaling>
        <c:delete val="0"/>
        <c:axPos val="b"/>
        <c:majorGridlines>
          <c:spPr>
            <a:ln>
              <a:solidFill>
                <a:srgbClr val="C9D1DC"/>
              </a:solidFill>
            </a:ln>
          </c:spPr>
        </c:majorGridlines>
        <c:majorTickMark val="out"/>
        <c:minorTickMark val="none"/>
        <c:tickLblPos val="nextTo"/>
        <c:spPr>
          <a:ln>
            <a:noFill/>
          </a:ln>
        </c:spPr>
        <c:txPr>
          <a:bodyPr/>
          <a:lstStyle/>
          <a:p>
            <a:pPr>
              <a:defRPr sz="1000">
                <a:solidFill>
                  <a:srgbClr val="5B6B82"/>
                </a:solidFill>
              </a:defRPr>
            </a:pPr>
          </a:p>
        </c:txPr>
        <c:crossAx val="-2068027336"/>
        <c:crosses val="autoZero"/>
      </c:valAx>
    </c:plotArea>
    <c:legend>
      <c:legendPos val="b"/>
      <c:overlay val="0"/>
      <c:txPr>
        <a:bodyPr/>
        <a:lstStyle/>
        <a:p>
          <a:pPr>
            <a:defRPr sz="1100">
              <a:solidFill>
                <a:srgbClr val="0B1F3A"/>
              </a:solidFil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1F3A"/>
                </a:solidFill>
              </a:rPr>
              <a:t>PR-AUC on test patients</a:t>
            </a:r>
          </a:p>
        </c:rich>
      </c:tx>
      <c:layout/>
      <c:overlay val="0"/>
    </c:title>
    <c:autoTitleDeleted val="0"/>
    <c:plotArea>
      <c:barChart>
        <c:barDir val="bar"/>
        <c:grouping val="clustered"/>
        <c:ser>
          <c:idx val="0"/>
          <c:order val="0"/>
          <c:tx>
            <c:strRef>
              <c:f>Sheet1!$B$1</c:f>
              <c:strCache>
                <c:ptCount val="1"/>
                <c:pt idx="0">
                  <c:v>All test rows</c:v>
                </c:pt>
              </c:strCache>
            </c:strRef>
          </c:tx>
          <c:spPr>
            <a:solidFill>
              <a:srgbClr val="0F9D8F"/>
            </a:solidFill>
          </c:spPr>
          <c:cat>
            <c:strRef>
              <c:f>Sheet1!$A$2:$A$5</c:f>
              <c:strCache>
                <c:ptCount val="4"/>
                <c:pt idx="0">
                  <c:v>Rule baseline</c:v>
                </c:pt>
                <c:pt idx="1">
                  <c:v>Logistic regression</c:v>
                </c:pt>
                <c:pt idx="2">
                  <c:v>Random forest</c:v>
                </c:pt>
                <c:pt idx="3">
                  <c:v>Gradient boosting</c:v>
                </c:pt>
              </c:strCache>
            </c:strRef>
          </c:cat>
          <c:val>
            <c:numRef>
              <c:f>Sheet1!$B$2:$B$5</c:f>
              <c:numCache>
                <c:formatCode>General</c:formatCode>
                <c:ptCount val="4"/>
                <c:pt idx="0">
                  <c:v>0.8805</c:v>
                </c:pt>
                <c:pt idx="1">
                  <c:v>0.9429</c:v>
                </c:pt>
                <c:pt idx="2">
                  <c:v>0.9696</c:v>
                </c:pt>
                <c:pt idx="3">
                  <c:v>0.975</c:v>
                </c:pt>
              </c:numCache>
            </c:numRef>
          </c:val>
        </c:ser>
        <c:ser>
          <c:idx val="1"/>
          <c:order val="1"/>
          <c:tx>
            <c:strRef>
              <c:f>Sheet1!$C$1</c:f>
              <c:strCache>
                <c:ptCount val="1"/>
                <c:pt idx="0">
                  <c:v>Glucose not yet high</c:v>
                </c:pt>
              </c:strCache>
            </c:strRef>
          </c:tx>
          <c:spPr>
            <a:solidFill>
              <a:srgbClr val="24497D"/>
            </a:solidFill>
          </c:spPr>
          <c:cat>
            <c:strRef>
              <c:f>Sheet1!$A$2:$A$5</c:f>
              <c:strCache>
                <c:ptCount val="4"/>
                <c:pt idx="0">
                  <c:v>Rule baseline</c:v>
                </c:pt>
                <c:pt idx="1">
                  <c:v>Logistic regression</c:v>
                </c:pt>
                <c:pt idx="2">
                  <c:v>Random forest</c:v>
                </c:pt>
                <c:pt idx="3">
                  <c:v>Gradient boosting</c:v>
                </c:pt>
              </c:strCache>
            </c:strRef>
          </c:cat>
          <c:val>
            <c:numRef>
              <c:f>Sheet1!$C$2:$C$5</c:f>
              <c:numCache>
                <c:formatCode>General</c:formatCode>
                <c:ptCount val="4"/>
                <c:pt idx="0">
                  <c:v>0.4716</c:v>
                </c:pt>
                <c:pt idx="1">
                  <c:v>0.7005</c:v>
                </c:pt>
                <c:pt idx="2">
                  <c:v>0.8432</c:v>
                </c:pt>
                <c:pt idx="3">
                  <c:v>0.867</c:v>
                </c:pt>
              </c:numCache>
            </c:numRef>
          </c:val>
        </c:ser>
        <c:dLbls>
          <c:numFmt formatCode="0.000" sourceLinked="0"/>
          <c:txPr>
            <a:bodyPr/>
            <a:lstStyle/>
            <a:p>
              <a:pPr>
                <a:defRPr sz="1000">
                  <a:solidFill>
                    <a:srgbClr val="0B1F3A"/>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axMin"/>
        </c:scaling>
        <c:delete val="0"/>
        <c:axPos val="l"/>
        <c:majorTickMark val="out"/>
        <c:minorTickMark val="none"/>
        <c:tickLblPos val="nextTo"/>
        <c:spPr>
          <a:ln>
            <a:solidFill>
              <a:srgbClr val="C9D1DC"/>
            </a:solidFill>
          </a:ln>
        </c:spPr>
        <c:txPr>
          <a:bodyPr/>
          <a:lstStyle/>
          <a:p>
            <a:pPr>
              <a:defRPr sz="1100">
                <a:solidFill>
                  <a:srgbClr val="0B1F3A"/>
                </a:solidFill>
              </a:defRPr>
            </a:pPr>
          </a:p>
        </c:txPr>
        <c:crossAx val="-2113994440"/>
        <c:crosses val="autoZero"/>
        <c:auto val="1"/>
        <c:lblAlgn val="ctr"/>
        <c:lblOffset val="100"/>
        <c:noMultiLvlLbl val="0"/>
      </c:catAx>
      <c:valAx>
        <c:axId val="-2113994440"/>
        <c:scaling>
          <c:max val="1.0"/>
          <c:min val="0.0"/>
        </c:scaling>
        <c:delete val="0"/>
        <c:axPos val="b"/>
        <c:majorGridlines>
          <c:spPr>
            <a:ln>
              <a:solidFill>
                <a:srgbClr val="C9D1DC"/>
              </a:solidFill>
            </a:ln>
          </c:spPr>
        </c:majorGridlines>
        <c:majorTickMark val="out"/>
        <c:minorTickMark val="none"/>
        <c:tickLblPos val="nextTo"/>
        <c:spPr>
          <a:ln>
            <a:noFill/>
          </a:ln>
        </c:spPr>
        <c:txPr>
          <a:bodyPr/>
          <a:lstStyle/>
          <a:p>
            <a:pPr>
              <a:defRPr sz="1000">
                <a:solidFill>
                  <a:srgbClr val="5B6B82"/>
                </a:solidFill>
              </a:defRPr>
            </a:pPr>
          </a:p>
        </c:txPr>
        <c:crossAx val="-2068027336"/>
        <c:crosses val="autoZero"/>
      </c:valAx>
    </c:plotArea>
    <c:legend>
      <c:legendPos val="b"/>
      <c:overlay val="0"/>
      <c:txPr>
        <a:bodyPr/>
        <a:lstStyle/>
        <a:p>
          <a:pPr>
            <a:defRPr sz="1100">
              <a:solidFill>
                <a:srgbClr val="0B1F3A"/>
              </a:solidFil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and the one-line idea: a per-patient digital twin that combines a person's medical history with live wearable data to estimate the chance of a high-glucose event in the next two hours. Say up front that everything shown runs on synthetic data and is a research prototype.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use case: hyperglycemia excursions are frequent in type 2 diabetes and CGM data is already collected, but it is mostly reviewed after the fact. A short-horizon, explained warning is a concrete, testable task. The 180 mg/dL / 120-minute rule is our prototype target, not a clinical definition. We avoid quoting prevalence statistics we have not verified.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plain classifier scores rows. The twin keeps state per patient and is updated over time: in the demo we advance the clock, the twin ingests the next part of the stream, recomputes features and calls the model again, and keeps a history. Be clear about scope: this is a data-driven twin; there is no live device integration; and what-if results describe how the model responds, not physiology.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what each stream contributes. Right: an ablation run by the evaluation script, same algorithm, different inputs, both single-stream models also get time of day. Honest message: on this synthetic cohort the sensor stream carries most of the signal; adding the EHR helps a little, most during CGM gaps, and the intervals overlap. Real data could show a different picture; that is a question for validation.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lane: offline. Generate linked synthetic data, validate, build features using only past data and labels from the next two hours, split by patient, train and select on validation patients, save the pipeline, evaluate on test patients. Bottom lane: runtime. The twin rebuilds features with the same function, the saved model scores them, the dashboard shows risk, explanation and warnings. The dashed box is the honest bit: the sensor feed is a replay, not a live device.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generator is deterministic. The EHR is not decoration: it sets each patient's baseline and how strongly they respond to meals, so the two streams are genuinely linked. We added realistic problems: sensor gaps, watch-off periods, and patients who log only some meals with wrong carb estimates. All features use only past data and an automated test proves it. No real data and no identifiers are used.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compare against a non-ML rule and a linear model before trusting anything complex. Model choice uses validation patients only. The split is by patient, so the test measures performance on people the model has never seen; a second check also moves forward in time. We report the subset where glucose is not already high because there, simply saying 'it is high now' does not 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numbers carefully. Gradient boosting reaches PR-AUC 0.975 on test patients versus 0.880 for the no-ML rule and 0.943 for logistic regression. The more meaningful comparison is the subset where glucose is not already high: 0.867 versus 0.472. Sensitivity on test was 77%, below the 80% we targeted on validation, which shows that thresholds do not transfer perfectly. The biggest caveat: high scores reflect how learnable our own simulator is; time of day is a top feature because synthetic meals follow routines. None of this is evidence about real patients.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dashboard as in the demo video: pick a held-out patient, advance the clock, watch the risk history update, open the explanation, then run what-if scenarios. Point out that the shaded forecast window contains no invented glucose values, and that the explanation honestly shows time of day as a top driver, which is a limitation of synthetic routines. What-if results show the model's sensitivity, not what would happen to the patient.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honestly. The value is potential, not demonstrated. Name the limitations plainly: synthetic data, a prototype target, clock-time shortcut, uncalibrated bands, no live integration. The roadmap moves from public de-identified data, to clinician-defined targets, to ethics-approved retrospective and then silent prospective evaluation, and only then regulatory review.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548640" y="1417320"/>
            <a:ext cx="10058400" cy="457200"/>
          </a:xfrm>
          <a:prstGeom prst="rect">
            <a:avLst/>
          </a:prstGeom>
          <a:noFill/>
        </p:spPr>
        <p:txBody>
          <a:bodyPr wrap="square" anchor="t" lIns="0" rIns="0" tIns="0" bIns="0">
            <a:spAutoFit/>
          </a:bodyPr>
          <a:lstStyle/>
          <a:p>
            <a:pPr algn="l">
              <a:lnSpc>
                <a:spcPct val="105000"/>
              </a:lnSpc>
            </a:pPr>
            <a:r>
              <a:rPr sz="1400" b="1" i="0">
                <a:solidFill>
                  <a:srgbClr val="E3F4F2"/>
                </a:solidFill>
                <a:latin typeface="Calibri"/>
              </a:rPr>
              <a:t>HAPPIEST HEALTH DIGITAL TWIN CHALLENGE 2026</a:t>
            </a:r>
          </a:p>
        </p:txBody>
      </p:sp>
      <p:sp>
        <p:nvSpPr>
          <p:cNvPr id="3" name="TextBox 2"/>
          <p:cNvSpPr txBox="1"/>
          <p:nvPr/>
        </p:nvSpPr>
        <p:spPr>
          <a:xfrm>
            <a:off x="548640" y="1874519"/>
            <a:ext cx="10972800" cy="914400"/>
          </a:xfrm>
          <a:prstGeom prst="rect">
            <a:avLst/>
          </a:prstGeom>
          <a:noFill/>
        </p:spPr>
        <p:txBody>
          <a:bodyPr wrap="square" anchor="t" lIns="0" rIns="0" tIns="0" bIns="0">
            <a:spAutoFit/>
          </a:bodyPr>
          <a:lstStyle/>
          <a:p>
            <a:pPr algn="l">
              <a:lnSpc>
                <a:spcPct val="105000"/>
              </a:lnSpc>
            </a:pPr>
            <a:r>
              <a:rPr sz="5400" b="1" i="0">
                <a:solidFill>
                  <a:srgbClr val="FFFFFF"/>
                </a:solidFill>
                <a:latin typeface="Calibri"/>
              </a:rPr>
              <a:t>SwasthTwin</a:t>
            </a:r>
          </a:p>
        </p:txBody>
      </p:sp>
      <p:sp>
        <p:nvSpPr>
          <p:cNvPr id="4" name="TextBox 3"/>
          <p:cNvSpPr txBox="1"/>
          <p:nvPr/>
        </p:nvSpPr>
        <p:spPr>
          <a:xfrm>
            <a:off x="548640" y="2834640"/>
            <a:ext cx="10515600" cy="914400"/>
          </a:xfrm>
          <a:prstGeom prst="rect">
            <a:avLst/>
          </a:prstGeom>
          <a:noFill/>
        </p:spPr>
        <p:txBody>
          <a:bodyPr wrap="square" anchor="t" lIns="0" rIns="0" tIns="0" bIns="0">
            <a:spAutoFit/>
          </a:bodyPr>
          <a:lstStyle/>
          <a:p>
            <a:pPr algn="l">
              <a:lnSpc>
                <a:spcPct val="105000"/>
              </a:lnSpc>
            </a:pPr>
            <a:r>
              <a:rPr sz="2000" b="0" i="0">
                <a:solidFill>
                  <a:srgbClr val="FFFFFF"/>
                </a:solidFill>
                <a:latin typeface="Calibri"/>
              </a:rPr>
              <a:t>A personalised Digital Twin that forecasts the risk of a hyperglycemia event in the next two hours by fusing historical EHR data with wearable and CGM streams</a:t>
            </a:r>
          </a:p>
        </p:txBody>
      </p:sp>
      <p:sp>
        <p:nvSpPr>
          <p:cNvPr id="5" name="TextBox 4"/>
          <p:cNvSpPr txBox="1"/>
          <p:nvPr/>
        </p:nvSpPr>
        <p:spPr>
          <a:xfrm>
            <a:off x="548640" y="4343400"/>
            <a:ext cx="10058400" cy="1188720"/>
          </a:xfrm>
          <a:prstGeom prst="rect">
            <a:avLst/>
          </a:prstGeom>
          <a:noFill/>
        </p:spPr>
        <p:txBody>
          <a:bodyPr wrap="square" anchor="t" lIns="0" rIns="0" tIns="0" bIns="0">
            <a:spAutoFit/>
          </a:bodyPr>
          <a:lstStyle/>
          <a:p>
            <a:pPr algn="l">
              <a:lnSpc>
                <a:spcPct val="120000"/>
              </a:lnSpc>
            </a:pPr>
            <a:r>
              <a:rPr sz="1500" b="0" i="0">
                <a:solidFill>
                  <a:srgbClr val="E3F4F2"/>
                </a:solidFill>
                <a:latin typeface="Calibri"/>
              </a:rPr>
              <a:t>Team  </a:t>
            </a:r>
            <a:r>
              <a:rPr sz="1500" b="1" i="0">
                <a:solidFill>
                  <a:srgbClr val="FFFFFF"/>
                </a:solidFill>
                <a:latin typeface="Calibri"/>
              </a:rPr>
              <a:t>Innovators</a:t>
            </a:r>
          </a:p>
          <a:p>
            <a:pPr algn="l">
              <a:lnSpc>
                <a:spcPct val="120000"/>
              </a:lnSpc>
            </a:pPr>
            <a:r>
              <a:rPr sz="1500" b="0" i="0">
                <a:solidFill>
                  <a:srgbClr val="E3F4F2"/>
                </a:solidFill>
                <a:latin typeface="Calibri"/>
              </a:rPr>
              <a:t>Institution  </a:t>
            </a:r>
            <a:r>
              <a:rPr sz="1500" b="0" i="0">
                <a:solidFill>
                  <a:srgbClr val="FFFFFF"/>
                </a:solidFill>
                <a:latin typeface="Calibri"/>
              </a:rPr>
              <a:t>Indian Institute of Technology Kharagpur</a:t>
            </a:r>
          </a:p>
          <a:p>
            <a:pPr algn="l">
              <a:lnSpc>
                <a:spcPct val="120000"/>
              </a:lnSpc>
            </a:pPr>
            <a:r>
              <a:rPr sz="1500" b="0" i="0">
                <a:solidFill>
                  <a:srgbClr val="E3F4F2"/>
                </a:solidFill>
                <a:latin typeface="Calibri"/>
              </a:rPr>
              <a:t>Team leader  </a:t>
            </a:r>
            <a:r>
              <a:rPr sz="1500" b="0" i="0">
                <a:solidFill>
                  <a:srgbClr val="FFFFFF"/>
                </a:solidFill>
                <a:latin typeface="Calibri"/>
              </a:rPr>
              <a:t>Yayavaram Vivekadithya</a:t>
            </a:r>
          </a:p>
        </p:txBody>
      </p:sp>
      <p:sp>
        <p:nvSpPr>
          <p:cNvPr id="6" name="Rounded Rectangle 5"/>
          <p:cNvSpPr/>
          <p:nvPr/>
        </p:nvSpPr>
        <p:spPr>
          <a:xfrm>
            <a:off x="548640" y="5715000"/>
            <a:ext cx="5669280" cy="457200"/>
          </a:xfrm>
          <a:prstGeom prst="roundRect">
            <a:avLst>
              <a:gd name="adj" fmla="val 20000"/>
            </a:avLst>
          </a:prstGeom>
          <a:solidFill>
            <a:srgbClr val="14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5779008"/>
            <a:ext cx="5486400" cy="365760"/>
          </a:xfrm>
          <a:prstGeom prst="rect">
            <a:avLst/>
          </a:prstGeom>
          <a:noFill/>
        </p:spPr>
        <p:txBody>
          <a:bodyPr wrap="square" anchor="t" lIns="0" rIns="0" tIns="0" bIns="0">
            <a:spAutoFit/>
          </a:bodyPr>
          <a:lstStyle/>
          <a:p>
            <a:pPr algn="l">
              <a:lnSpc>
                <a:spcPct val="105000"/>
              </a:lnSpc>
            </a:pPr>
            <a:r>
              <a:rPr sz="1300" b="1" i="0">
                <a:solidFill>
                  <a:srgbClr val="FCEFD9"/>
                </a:solidFill>
                <a:latin typeface="Calibri"/>
              </a:rPr>
              <a:t>Research prototype · synthetic data only · not a medical device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640080"/>
          </a:xfrm>
          <a:prstGeom prst="rect">
            <a:avLst/>
          </a:prstGeom>
          <a:noFill/>
        </p:spPr>
        <p:txBody>
          <a:bodyPr wrap="square" anchor="t" lIns="0" rIns="0" tIns="0" bIns="0">
            <a:spAutoFit/>
          </a:bodyPr>
          <a:lstStyle/>
          <a:p>
            <a:pPr algn="l">
              <a:lnSpc>
                <a:spcPct val="105000"/>
              </a:lnSpc>
            </a:pPr>
            <a:r>
              <a:rPr sz="3000" b="1" i="0">
                <a:solidFill>
                  <a:srgbClr val="0B1F3A"/>
                </a:solidFill>
                <a:latin typeface="Calibri"/>
              </a:rPr>
              <a:t>The problem: high-glucose episodes are seen after they happen</a:t>
            </a:r>
          </a:p>
        </p:txBody>
      </p:sp>
      <p:sp>
        <p:nvSpPr>
          <p:cNvPr id="3" name="TextBox 2"/>
          <p:cNvSpPr txBox="1"/>
          <p:nvPr/>
        </p:nvSpPr>
        <p:spPr>
          <a:xfrm>
            <a:off x="548640" y="1024128"/>
            <a:ext cx="11094415" cy="411480"/>
          </a:xfrm>
          <a:prstGeom prst="rect">
            <a:avLst/>
          </a:prstGeom>
          <a:noFill/>
        </p:spPr>
        <p:txBody>
          <a:bodyPr wrap="square" anchor="t" lIns="0" rIns="0" tIns="0" bIns="0">
            <a:spAutoFit/>
          </a:bodyPr>
          <a:lstStyle/>
          <a:p>
            <a:pPr algn="l">
              <a:lnSpc>
                <a:spcPct val="105000"/>
              </a:lnSpc>
            </a:pPr>
            <a:r>
              <a:rPr sz="1500" b="0" i="0">
                <a:solidFill>
                  <a:srgbClr val="5B6B82"/>
                </a:solidFill>
                <a:latin typeface="Calibri"/>
              </a:rPr>
              <a:t>Adults with or at risk of type 2 diabetes generate rich CGM and wearable data, but it is reviewed retrospectively</a:t>
            </a:r>
          </a:p>
        </p:txBody>
      </p:sp>
      <p:sp>
        <p:nvSpPr>
          <p:cNvPr id="4" name="Rounded Rectangle 3"/>
          <p:cNvSpPr/>
          <p:nvPr/>
        </p:nvSpPr>
        <p:spPr>
          <a:xfrm>
            <a:off x="548640" y="1783080"/>
            <a:ext cx="3423818" cy="2651760"/>
          </a:xfrm>
          <a:prstGeom prst="roundRect">
            <a:avLst>
              <a:gd name="adj" fmla="val 2758"/>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59" y="2011680"/>
            <a:ext cx="502920" cy="502920"/>
          </a:xfrm>
          <a:prstGeom prst="ellipse">
            <a:avLst/>
          </a:prstGeom>
          <a:solidFill>
            <a:srgbClr val="0F9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6" name="TextBox 5"/>
          <p:cNvSpPr txBox="1"/>
          <p:nvPr/>
        </p:nvSpPr>
        <p:spPr>
          <a:xfrm>
            <a:off x="822959" y="2697480"/>
            <a:ext cx="2875178" cy="457200"/>
          </a:xfrm>
          <a:prstGeom prst="rect">
            <a:avLst/>
          </a:prstGeom>
          <a:noFill/>
        </p:spPr>
        <p:txBody>
          <a:bodyPr wrap="square" anchor="t" lIns="0" rIns="0" tIns="0" bIns="0">
            <a:spAutoFit/>
          </a:bodyPr>
          <a:lstStyle/>
          <a:p>
            <a:pPr algn="l">
              <a:lnSpc>
                <a:spcPct val="105000"/>
              </a:lnSpc>
            </a:pPr>
            <a:r>
              <a:rPr sz="1900" b="1" i="0">
                <a:solidFill>
                  <a:srgbClr val="0B1F3A"/>
                </a:solidFill>
                <a:latin typeface="Calibri"/>
              </a:rPr>
              <a:t>Data without foresight</a:t>
            </a:r>
          </a:p>
        </p:txBody>
      </p:sp>
      <p:sp>
        <p:nvSpPr>
          <p:cNvPr id="7" name="TextBox 6"/>
          <p:cNvSpPr txBox="1"/>
          <p:nvPr/>
        </p:nvSpPr>
        <p:spPr>
          <a:xfrm>
            <a:off x="822959" y="3200400"/>
            <a:ext cx="2875178" cy="1188720"/>
          </a:xfrm>
          <a:prstGeom prst="rect">
            <a:avLst/>
          </a:prstGeom>
          <a:noFill/>
        </p:spPr>
        <p:txBody>
          <a:bodyPr wrap="square" anchor="t" lIns="0" rIns="0" tIns="0" bIns="0">
            <a:spAutoFit/>
          </a:bodyPr>
          <a:lstStyle/>
          <a:p>
            <a:pPr algn="l">
              <a:lnSpc>
                <a:spcPct val="105000"/>
              </a:lnSpc>
            </a:pPr>
            <a:r>
              <a:rPr sz="1400" b="0" i="0">
                <a:solidFill>
                  <a:srgbClr val="0B1F3A"/>
                </a:solidFill>
                <a:latin typeface="Calibri"/>
              </a:rPr>
              <a:t>CGM shows where glucose IS. Reports summarise where it WAS. Few tools estimate where it is heading for this specific person.</a:t>
            </a:r>
          </a:p>
        </p:txBody>
      </p:sp>
      <p:sp>
        <p:nvSpPr>
          <p:cNvPr id="8" name="Rounded Rectangle 7"/>
          <p:cNvSpPr/>
          <p:nvPr/>
        </p:nvSpPr>
        <p:spPr>
          <a:xfrm>
            <a:off x="4246778" y="1783080"/>
            <a:ext cx="3423818" cy="2651760"/>
          </a:xfrm>
          <a:prstGeom prst="roundRect">
            <a:avLst>
              <a:gd name="adj" fmla="val 2758"/>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521098" y="2011680"/>
            <a:ext cx="502920" cy="502920"/>
          </a:xfrm>
          <a:prstGeom prst="ellipse">
            <a:avLst/>
          </a:prstGeom>
          <a:solidFill>
            <a:srgbClr val="0F9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0" name="TextBox 9"/>
          <p:cNvSpPr txBox="1"/>
          <p:nvPr/>
        </p:nvSpPr>
        <p:spPr>
          <a:xfrm>
            <a:off x="4521098" y="2697480"/>
            <a:ext cx="2875178" cy="457200"/>
          </a:xfrm>
          <a:prstGeom prst="rect">
            <a:avLst/>
          </a:prstGeom>
          <a:noFill/>
        </p:spPr>
        <p:txBody>
          <a:bodyPr wrap="square" anchor="t" lIns="0" rIns="0" tIns="0" bIns="0">
            <a:spAutoFit/>
          </a:bodyPr>
          <a:lstStyle/>
          <a:p>
            <a:pPr algn="l">
              <a:lnSpc>
                <a:spcPct val="105000"/>
              </a:lnSpc>
            </a:pPr>
            <a:r>
              <a:rPr sz="1900" b="1" i="0">
                <a:solidFill>
                  <a:srgbClr val="0B1F3A"/>
                </a:solidFill>
                <a:latin typeface="Calibri"/>
              </a:rPr>
              <a:t>Context is split</a:t>
            </a:r>
          </a:p>
        </p:txBody>
      </p:sp>
      <p:sp>
        <p:nvSpPr>
          <p:cNvPr id="11" name="TextBox 10"/>
          <p:cNvSpPr txBox="1"/>
          <p:nvPr/>
        </p:nvSpPr>
        <p:spPr>
          <a:xfrm>
            <a:off x="4521098" y="3200400"/>
            <a:ext cx="2875178" cy="1188720"/>
          </a:xfrm>
          <a:prstGeom prst="rect">
            <a:avLst/>
          </a:prstGeom>
          <a:noFill/>
        </p:spPr>
        <p:txBody>
          <a:bodyPr wrap="square" anchor="t" lIns="0" rIns="0" tIns="0" bIns="0">
            <a:spAutoFit/>
          </a:bodyPr>
          <a:lstStyle/>
          <a:p>
            <a:pPr algn="l">
              <a:lnSpc>
                <a:spcPct val="105000"/>
              </a:lnSpc>
            </a:pPr>
            <a:r>
              <a:rPr sz="1400" b="0" i="0">
                <a:solidFill>
                  <a:srgbClr val="0B1F3A"/>
                </a:solidFill>
                <a:latin typeface="Calibri"/>
              </a:rPr>
              <a:t>The EHR (HbA1c, diagnosis, medicines) and the wearable stream (glucose, activity, sleep) sit in different systems and are rarely read together.</a:t>
            </a:r>
          </a:p>
        </p:txBody>
      </p:sp>
      <p:sp>
        <p:nvSpPr>
          <p:cNvPr id="12" name="Rounded Rectangle 11"/>
          <p:cNvSpPr/>
          <p:nvPr/>
        </p:nvSpPr>
        <p:spPr>
          <a:xfrm>
            <a:off x="7944916" y="1783080"/>
            <a:ext cx="3423818" cy="2651760"/>
          </a:xfrm>
          <a:prstGeom prst="roundRect">
            <a:avLst>
              <a:gd name="adj" fmla="val 2758"/>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219236" y="2011680"/>
            <a:ext cx="502920" cy="502920"/>
          </a:xfrm>
          <a:prstGeom prst="ellipse">
            <a:avLst/>
          </a:prstGeom>
          <a:solidFill>
            <a:srgbClr val="0F9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4" name="TextBox 13"/>
          <p:cNvSpPr txBox="1"/>
          <p:nvPr/>
        </p:nvSpPr>
        <p:spPr>
          <a:xfrm>
            <a:off x="8219236" y="2697480"/>
            <a:ext cx="2875178" cy="457200"/>
          </a:xfrm>
          <a:prstGeom prst="rect">
            <a:avLst/>
          </a:prstGeom>
          <a:noFill/>
        </p:spPr>
        <p:txBody>
          <a:bodyPr wrap="square" anchor="t" lIns="0" rIns="0" tIns="0" bIns="0">
            <a:spAutoFit/>
          </a:bodyPr>
          <a:lstStyle/>
          <a:p>
            <a:pPr algn="l">
              <a:lnSpc>
                <a:spcPct val="105000"/>
              </a:lnSpc>
            </a:pPr>
            <a:r>
              <a:rPr sz="1900" b="1" i="0">
                <a:solidFill>
                  <a:srgbClr val="0B1F3A"/>
                </a:solidFill>
                <a:latin typeface="Calibri"/>
              </a:rPr>
              <a:t>Clinician time is short</a:t>
            </a:r>
          </a:p>
        </p:txBody>
      </p:sp>
      <p:sp>
        <p:nvSpPr>
          <p:cNvPr id="15" name="TextBox 14"/>
          <p:cNvSpPr txBox="1"/>
          <p:nvPr/>
        </p:nvSpPr>
        <p:spPr>
          <a:xfrm>
            <a:off x="8219236" y="3200400"/>
            <a:ext cx="2875178" cy="1188720"/>
          </a:xfrm>
          <a:prstGeom prst="rect">
            <a:avLst/>
          </a:prstGeom>
          <a:noFill/>
        </p:spPr>
        <p:txBody>
          <a:bodyPr wrap="square" anchor="t" lIns="0" rIns="0" tIns="0" bIns="0">
            <a:spAutoFit/>
          </a:bodyPr>
          <a:lstStyle/>
          <a:p>
            <a:pPr algn="l">
              <a:lnSpc>
                <a:spcPct val="105000"/>
              </a:lnSpc>
            </a:pPr>
            <a:r>
              <a:rPr sz="1400" b="0" i="0">
                <a:solidFill>
                  <a:srgbClr val="0B1F3A"/>
                </a:solidFill>
                <a:latin typeface="Calibri"/>
              </a:rPr>
              <a:t>A care team cannot watch every stream. They need a short, explained signal: who may be heading high soon, and why the model thinks so.</a:t>
            </a:r>
          </a:p>
        </p:txBody>
      </p:sp>
      <p:sp>
        <p:nvSpPr>
          <p:cNvPr id="16" name="Rounded Rectangle 15"/>
          <p:cNvSpPr/>
          <p:nvPr/>
        </p:nvSpPr>
        <p:spPr>
          <a:xfrm>
            <a:off x="548640" y="4709160"/>
            <a:ext cx="10820095" cy="1417320"/>
          </a:xfrm>
          <a:prstGeom prst="roundRect">
            <a:avLst>
              <a:gd name="adj" fmla="val 5161"/>
            </a:avLst>
          </a:prstGeom>
          <a:solidFill>
            <a:srgbClr val="E3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59" y="4846320"/>
            <a:ext cx="10271455" cy="365760"/>
          </a:xfrm>
          <a:prstGeom prst="rect">
            <a:avLst/>
          </a:prstGeom>
          <a:noFill/>
        </p:spPr>
        <p:txBody>
          <a:bodyPr wrap="square" anchor="t" lIns="0" rIns="0" tIns="0" bIns="0">
            <a:spAutoFit/>
          </a:bodyPr>
          <a:lstStyle/>
          <a:p>
            <a:pPr algn="l">
              <a:lnSpc>
                <a:spcPct val="105000"/>
              </a:lnSpc>
            </a:pPr>
            <a:r>
              <a:rPr sz="1600" b="1" i="0">
                <a:solidFill>
                  <a:srgbClr val="0F9D8F"/>
                </a:solidFill>
                <a:latin typeface="Calibri"/>
              </a:rPr>
              <a:t>Specific use case</a:t>
            </a:r>
          </a:p>
        </p:txBody>
      </p:sp>
      <p:sp>
        <p:nvSpPr>
          <p:cNvPr id="18" name="TextBox 17"/>
          <p:cNvSpPr txBox="1"/>
          <p:nvPr/>
        </p:nvSpPr>
        <p:spPr>
          <a:xfrm>
            <a:off x="822959" y="5230368"/>
            <a:ext cx="10271455" cy="822960"/>
          </a:xfrm>
          <a:prstGeom prst="rect">
            <a:avLst/>
          </a:prstGeom>
          <a:noFill/>
        </p:spPr>
        <p:txBody>
          <a:bodyPr wrap="square" anchor="t" lIns="0" rIns="0" tIns="0" bIns="0">
            <a:spAutoFit/>
          </a:bodyPr>
          <a:lstStyle/>
          <a:p>
            <a:pPr algn="l">
              <a:lnSpc>
                <a:spcPct val="105000"/>
              </a:lnSpc>
            </a:pPr>
            <a:r>
              <a:rPr sz="1500" b="0" i="0">
                <a:solidFill>
                  <a:srgbClr val="0B1F3A"/>
                </a:solidFill>
                <a:latin typeface="Calibri"/>
              </a:rPr>
              <a:t>Every 30 minutes, estimate P(any CGM reading ≥ 180 mg/dL in the next 120 minutes) for one patient, explain the estimate and flag data-quality problems — for clinician review, not for automatic action.</a:t>
            </a:r>
          </a:p>
        </p:txBody>
      </p:sp>
      <p:sp>
        <p:nvSpPr>
          <p:cNvPr id="19" name="TextBox 18"/>
          <p:cNvSpPr txBox="1"/>
          <p:nvPr/>
        </p:nvSpPr>
        <p:spPr>
          <a:xfrm>
            <a:off x="548640" y="6446520"/>
            <a:ext cx="8229600" cy="256032"/>
          </a:xfrm>
          <a:prstGeom prst="rect">
            <a:avLst/>
          </a:prstGeom>
          <a:noFill/>
        </p:spPr>
        <p:txBody>
          <a:bodyPr wrap="square" anchor="t" lIns="0" rIns="0" tIns="0" bIns="0">
            <a:spAutoFit/>
          </a:bodyPr>
          <a:lstStyle/>
          <a:p>
            <a:pPr algn="l">
              <a:lnSpc>
                <a:spcPct val="105000"/>
              </a:lnSpc>
            </a:pPr>
            <a:r>
              <a:rPr sz="1000" b="0" i="0">
                <a:solidFill>
                  <a:srgbClr val="5B6B82"/>
                </a:solidFill>
                <a:latin typeface="Calibri"/>
              </a:rPr>
              <a:t>SwasthTwin · research prototype on synthetic data · not a medical device</a:t>
            </a:r>
          </a:p>
        </p:txBody>
      </p:sp>
      <p:sp>
        <p:nvSpPr>
          <p:cNvPr id="20" name="TextBox 19"/>
          <p:cNvSpPr txBox="1"/>
          <p:nvPr/>
        </p:nvSpPr>
        <p:spPr>
          <a:xfrm>
            <a:off x="11155680" y="6446520"/>
            <a:ext cx="502920" cy="256032"/>
          </a:xfrm>
          <a:prstGeom prst="rect">
            <a:avLst/>
          </a:prstGeom>
          <a:noFill/>
        </p:spPr>
        <p:txBody>
          <a:bodyPr wrap="square" anchor="t" lIns="0" rIns="0" tIns="0" bIns="0">
            <a:spAutoFit/>
          </a:bodyPr>
          <a:lstStyle/>
          <a:p>
            <a:pPr algn="r">
              <a:lnSpc>
                <a:spcPct val="105000"/>
              </a:lnSpc>
            </a:pPr>
            <a:r>
              <a:rPr sz="1000" b="0" i="0">
                <a:solidFill>
                  <a:srgbClr val="5B6B82"/>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640080"/>
          </a:xfrm>
          <a:prstGeom prst="rect">
            <a:avLst/>
          </a:prstGeom>
          <a:noFill/>
        </p:spPr>
        <p:txBody>
          <a:bodyPr wrap="square" anchor="t" lIns="0" rIns="0" tIns="0" bIns="0">
            <a:spAutoFit/>
          </a:bodyPr>
          <a:lstStyle/>
          <a:p>
            <a:pPr algn="l">
              <a:lnSpc>
                <a:spcPct val="105000"/>
              </a:lnSpc>
            </a:pPr>
            <a:r>
              <a:rPr sz="3000" b="1" i="0">
                <a:solidFill>
                  <a:srgbClr val="0B1F3A"/>
                </a:solidFill>
                <a:latin typeface="Calibri"/>
              </a:rPr>
              <a:t>Why it is a Digital Twin, not just a prediction model</a:t>
            </a:r>
          </a:p>
        </p:txBody>
      </p:sp>
      <p:sp>
        <p:nvSpPr>
          <p:cNvPr id="3" name="TextBox 2"/>
          <p:cNvSpPr txBox="1"/>
          <p:nvPr/>
        </p:nvSpPr>
        <p:spPr>
          <a:xfrm>
            <a:off x="548640" y="1024128"/>
            <a:ext cx="11094415" cy="411480"/>
          </a:xfrm>
          <a:prstGeom prst="rect">
            <a:avLst/>
          </a:prstGeom>
          <a:noFill/>
        </p:spPr>
        <p:txBody>
          <a:bodyPr wrap="square" anchor="t" lIns="0" rIns="0" tIns="0" bIns="0">
            <a:spAutoFit/>
          </a:bodyPr>
          <a:lstStyle/>
          <a:p>
            <a:pPr algn="l">
              <a:lnSpc>
                <a:spcPct val="105000"/>
              </a:lnSpc>
            </a:pPr>
            <a:r>
              <a:rPr sz="1500" b="0" i="0">
                <a:solidFill>
                  <a:srgbClr val="5B6B82"/>
                </a:solidFill>
                <a:latin typeface="Calibri"/>
              </a:rPr>
              <a:t>Each patient has a persistent virtual state that is updated as new observations arrive</a:t>
            </a:r>
          </a:p>
        </p:txBody>
      </p:sp>
      <p:sp>
        <p:nvSpPr>
          <p:cNvPr id="4" name="Rounded Rectangle 3"/>
          <p:cNvSpPr/>
          <p:nvPr/>
        </p:nvSpPr>
        <p:spPr>
          <a:xfrm>
            <a:off x="548640" y="1783080"/>
            <a:ext cx="2036003" cy="1828800"/>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31520" y="1965960"/>
            <a:ext cx="457200" cy="457200"/>
          </a:xfrm>
          <a:prstGeom prst="ellipse">
            <a:avLst/>
          </a:prstGeom>
          <a:solidFill>
            <a:srgbClr val="0F9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6" name="TextBox 5"/>
          <p:cNvSpPr txBox="1"/>
          <p:nvPr/>
        </p:nvSpPr>
        <p:spPr>
          <a:xfrm>
            <a:off x="731520" y="2514600"/>
            <a:ext cx="1670243" cy="365760"/>
          </a:xfrm>
          <a:prstGeom prst="rect">
            <a:avLst/>
          </a:prstGeom>
          <a:noFill/>
        </p:spPr>
        <p:txBody>
          <a:bodyPr wrap="square" anchor="t" lIns="0" rIns="0" tIns="0" bIns="0">
            <a:spAutoFit/>
          </a:bodyPr>
          <a:lstStyle/>
          <a:p>
            <a:pPr algn="l">
              <a:lnSpc>
                <a:spcPct val="105000"/>
              </a:lnSpc>
            </a:pPr>
            <a:r>
              <a:rPr sz="1700" b="1" i="0">
                <a:solidFill>
                  <a:srgbClr val="0B1F3A"/>
                </a:solidFill>
                <a:latin typeface="Calibri"/>
              </a:rPr>
              <a:t>Observe</a:t>
            </a:r>
          </a:p>
        </p:txBody>
      </p:sp>
      <p:sp>
        <p:nvSpPr>
          <p:cNvPr id="7" name="TextBox 6"/>
          <p:cNvSpPr txBox="1"/>
          <p:nvPr/>
        </p:nvSpPr>
        <p:spPr>
          <a:xfrm>
            <a:off x="731520" y="2880360"/>
            <a:ext cx="1715963" cy="731520"/>
          </a:xfrm>
          <a:prstGeom prst="rect">
            <a:avLst/>
          </a:prstGeom>
          <a:noFill/>
        </p:spPr>
        <p:txBody>
          <a:bodyPr wrap="square" anchor="t" lIns="0" rIns="0" tIns="0" bIns="0">
            <a:spAutoFit/>
          </a:bodyPr>
          <a:lstStyle/>
          <a:p>
            <a:pPr algn="l">
              <a:lnSpc>
                <a:spcPct val="105000"/>
              </a:lnSpc>
            </a:pPr>
            <a:r>
              <a:rPr sz="1300" b="0" i="0">
                <a:solidFill>
                  <a:srgbClr val="0B1F3A"/>
                </a:solidFill>
                <a:latin typeface="Calibri"/>
              </a:rPr>
              <a:t>EHR profile + new sensor readings up to the twin's clock</a:t>
            </a:r>
          </a:p>
        </p:txBody>
      </p:sp>
      <p:cxnSp>
        <p:nvCxnSpPr>
          <p:cNvPr id="8" name="Connector 7"/>
          <p:cNvCxnSpPr/>
          <p:nvPr/>
        </p:nvCxnSpPr>
        <p:spPr>
          <a:xfrm>
            <a:off x="2602931" y="2697480"/>
            <a:ext cx="192024" cy="0"/>
          </a:xfrm>
          <a:prstGeom prst="line">
            <a:avLst/>
          </a:prstGeom>
          <a:ln w="25400">
            <a:solidFill>
              <a:srgbClr val="0F9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13243" y="1783080"/>
            <a:ext cx="2036003" cy="1828800"/>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2996123" y="1965960"/>
            <a:ext cx="457200" cy="457200"/>
          </a:xfrm>
          <a:prstGeom prst="ellipse">
            <a:avLst/>
          </a:prstGeom>
          <a:solidFill>
            <a:srgbClr val="0F9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1" name="TextBox 10"/>
          <p:cNvSpPr txBox="1"/>
          <p:nvPr/>
        </p:nvSpPr>
        <p:spPr>
          <a:xfrm>
            <a:off x="2996123" y="2514600"/>
            <a:ext cx="1670243" cy="365760"/>
          </a:xfrm>
          <a:prstGeom prst="rect">
            <a:avLst/>
          </a:prstGeom>
          <a:noFill/>
        </p:spPr>
        <p:txBody>
          <a:bodyPr wrap="square" anchor="t" lIns="0" rIns="0" tIns="0" bIns="0">
            <a:spAutoFit/>
          </a:bodyPr>
          <a:lstStyle/>
          <a:p>
            <a:pPr algn="l">
              <a:lnSpc>
                <a:spcPct val="105000"/>
              </a:lnSpc>
            </a:pPr>
            <a:r>
              <a:rPr sz="1700" b="1" i="0">
                <a:solidFill>
                  <a:srgbClr val="0B1F3A"/>
                </a:solidFill>
                <a:latin typeface="Calibri"/>
              </a:rPr>
              <a:t>Update state</a:t>
            </a:r>
          </a:p>
        </p:txBody>
      </p:sp>
      <p:sp>
        <p:nvSpPr>
          <p:cNvPr id="12" name="TextBox 11"/>
          <p:cNvSpPr txBox="1"/>
          <p:nvPr/>
        </p:nvSpPr>
        <p:spPr>
          <a:xfrm>
            <a:off x="2996123" y="2880360"/>
            <a:ext cx="1715963" cy="731520"/>
          </a:xfrm>
          <a:prstGeom prst="rect">
            <a:avLst/>
          </a:prstGeom>
          <a:noFill/>
        </p:spPr>
        <p:txBody>
          <a:bodyPr wrap="square" anchor="t" lIns="0" rIns="0" tIns="0" bIns="0">
            <a:spAutoFit/>
          </a:bodyPr>
          <a:lstStyle/>
          <a:p>
            <a:pPr algn="l">
              <a:lnSpc>
                <a:spcPct val="105000"/>
              </a:lnSpc>
            </a:pPr>
            <a:r>
              <a:rPr sz="1300" b="0" i="0">
                <a:solidFill>
                  <a:srgbClr val="0B1F3A"/>
                </a:solidFill>
                <a:latin typeface="Calibri"/>
              </a:rPr>
              <a:t>Rebuild rolling features with the same code used in training</a:t>
            </a:r>
          </a:p>
        </p:txBody>
      </p:sp>
      <p:cxnSp>
        <p:nvCxnSpPr>
          <p:cNvPr id="13" name="Connector 12"/>
          <p:cNvCxnSpPr/>
          <p:nvPr/>
        </p:nvCxnSpPr>
        <p:spPr>
          <a:xfrm>
            <a:off x="4867534" y="2697480"/>
            <a:ext cx="192024" cy="0"/>
          </a:xfrm>
          <a:prstGeom prst="line">
            <a:avLst/>
          </a:prstGeom>
          <a:ln w="25400">
            <a:solidFill>
              <a:srgbClr val="0F9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77846" y="1783080"/>
            <a:ext cx="2036003" cy="1828800"/>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260726" y="1965960"/>
            <a:ext cx="457200" cy="457200"/>
          </a:xfrm>
          <a:prstGeom prst="ellipse">
            <a:avLst/>
          </a:prstGeom>
          <a:solidFill>
            <a:srgbClr val="0F9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6" name="TextBox 15"/>
          <p:cNvSpPr txBox="1"/>
          <p:nvPr/>
        </p:nvSpPr>
        <p:spPr>
          <a:xfrm>
            <a:off x="5260726" y="2514600"/>
            <a:ext cx="1670243" cy="365760"/>
          </a:xfrm>
          <a:prstGeom prst="rect">
            <a:avLst/>
          </a:prstGeom>
          <a:noFill/>
        </p:spPr>
        <p:txBody>
          <a:bodyPr wrap="square" anchor="t" lIns="0" rIns="0" tIns="0" bIns="0">
            <a:spAutoFit/>
          </a:bodyPr>
          <a:lstStyle/>
          <a:p>
            <a:pPr algn="l">
              <a:lnSpc>
                <a:spcPct val="105000"/>
              </a:lnSpc>
            </a:pPr>
            <a:r>
              <a:rPr sz="1700" b="1" i="0">
                <a:solidFill>
                  <a:srgbClr val="0B1F3A"/>
                </a:solidFill>
                <a:latin typeface="Calibri"/>
              </a:rPr>
              <a:t>Forecast</a:t>
            </a:r>
          </a:p>
        </p:txBody>
      </p:sp>
      <p:sp>
        <p:nvSpPr>
          <p:cNvPr id="17" name="TextBox 16"/>
          <p:cNvSpPr txBox="1"/>
          <p:nvPr/>
        </p:nvSpPr>
        <p:spPr>
          <a:xfrm>
            <a:off x="5260726" y="2880360"/>
            <a:ext cx="1715963" cy="731520"/>
          </a:xfrm>
          <a:prstGeom prst="rect">
            <a:avLst/>
          </a:prstGeom>
          <a:noFill/>
        </p:spPr>
        <p:txBody>
          <a:bodyPr wrap="square" anchor="t" lIns="0" rIns="0" tIns="0" bIns="0">
            <a:spAutoFit/>
          </a:bodyPr>
          <a:lstStyle/>
          <a:p>
            <a:pPr algn="l">
              <a:lnSpc>
                <a:spcPct val="105000"/>
              </a:lnSpc>
            </a:pPr>
            <a:r>
              <a:rPr sz="1300" b="0" i="0">
                <a:solidFill>
                  <a:srgbClr val="0B1F3A"/>
                </a:solidFill>
                <a:latin typeface="Calibri"/>
              </a:rPr>
              <a:t>Saved model scores the 120-minute event risk</a:t>
            </a:r>
          </a:p>
        </p:txBody>
      </p:sp>
      <p:cxnSp>
        <p:nvCxnSpPr>
          <p:cNvPr id="18" name="Connector 17"/>
          <p:cNvCxnSpPr/>
          <p:nvPr/>
        </p:nvCxnSpPr>
        <p:spPr>
          <a:xfrm>
            <a:off x="7132137" y="2697480"/>
            <a:ext cx="192024" cy="0"/>
          </a:xfrm>
          <a:prstGeom prst="line">
            <a:avLst/>
          </a:prstGeom>
          <a:ln w="25400">
            <a:solidFill>
              <a:srgbClr val="0F9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342449" y="1783080"/>
            <a:ext cx="2036003" cy="1828800"/>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525329" y="1965960"/>
            <a:ext cx="457200" cy="457200"/>
          </a:xfrm>
          <a:prstGeom prst="ellipse">
            <a:avLst/>
          </a:prstGeom>
          <a:solidFill>
            <a:srgbClr val="0F9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1" name="TextBox 20"/>
          <p:cNvSpPr txBox="1"/>
          <p:nvPr/>
        </p:nvSpPr>
        <p:spPr>
          <a:xfrm>
            <a:off x="7525329" y="2514600"/>
            <a:ext cx="1670243" cy="365760"/>
          </a:xfrm>
          <a:prstGeom prst="rect">
            <a:avLst/>
          </a:prstGeom>
          <a:noFill/>
        </p:spPr>
        <p:txBody>
          <a:bodyPr wrap="square" anchor="t" lIns="0" rIns="0" tIns="0" bIns="0">
            <a:spAutoFit/>
          </a:bodyPr>
          <a:lstStyle/>
          <a:p>
            <a:pPr algn="l">
              <a:lnSpc>
                <a:spcPct val="105000"/>
              </a:lnSpc>
            </a:pPr>
            <a:r>
              <a:rPr sz="1700" b="1" i="0">
                <a:solidFill>
                  <a:srgbClr val="0B1F3A"/>
                </a:solidFill>
                <a:latin typeface="Calibri"/>
              </a:rPr>
              <a:t>Explain</a:t>
            </a:r>
          </a:p>
        </p:txBody>
      </p:sp>
      <p:sp>
        <p:nvSpPr>
          <p:cNvPr id="22" name="TextBox 21"/>
          <p:cNvSpPr txBox="1"/>
          <p:nvPr/>
        </p:nvSpPr>
        <p:spPr>
          <a:xfrm>
            <a:off x="7525329" y="2880360"/>
            <a:ext cx="1715963" cy="731520"/>
          </a:xfrm>
          <a:prstGeom prst="rect">
            <a:avLst/>
          </a:prstGeom>
          <a:noFill/>
        </p:spPr>
        <p:txBody>
          <a:bodyPr wrap="square" anchor="t" lIns="0" rIns="0" tIns="0" bIns="0">
            <a:spAutoFit/>
          </a:bodyPr>
          <a:lstStyle/>
          <a:p>
            <a:pPr algn="l">
              <a:lnSpc>
                <a:spcPct val="105000"/>
              </a:lnSpc>
            </a:pPr>
            <a:r>
              <a:rPr sz="1300" b="0" i="0">
                <a:solidFill>
                  <a:srgbClr val="0B1F3A"/>
                </a:solidFill>
                <a:latin typeface="Calibri"/>
              </a:rPr>
              <a:t>Top inputs, stream contributions, data-quality warnings</a:t>
            </a:r>
          </a:p>
        </p:txBody>
      </p:sp>
      <p:cxnSp>
        <p:nvCxnSpPr>
          <p:cNvPr id="23" name="Connector 22"/>
          <p:cNvCxnSpPr/>
          <p:nvPr/>
        </p:nvCxnSpPr>
        <p:spPr>
          <a:xfrm>
            <a:off x="9396740" y="2697480"/>
            <a:ext cx="192024" cy="0"/>
          </a:xfrm>
          <a:prstGeom prst="line">
            <a:avLst/>
          </a:prstGeom>
          <a:ln w="25400">
            <a:solidFill>
              <a:srgbClr val="0F9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607052" y="1783080"/>
            <a:ext cx="2036003" cy="1828800"/>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9789932" y="1965960"/>
            <a:ext cx="457200" cy="457200"/>
          </a:xfrm>
          <a:prstGeom prst="ellipse">
            <a:avLst/>
          </a:prstGeom>
          <a:solidFill>
            <a:srgbClr val="0F9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26" name="TextBox 25"/>
          <p:cNvSpPr txBox="1"/>
          <p:nvPr/>
        </p:nvSpPr>
        <p:spPr>
          <a:xfrm>
            <a:off x="9789932" y="2514600"/>
            <a:ext cx="1670243" cy="365760"/>
          </a:xfrm>
          <a:prstGeom prst="rect">
            <a:avLst/>
          </a:prstGeom>
          <a:noFill/>
        </p:spPr>
        <p:txBody>
          <a:bodyPr wrap="square" anchor="t" lIns="0" rIns="0" tIns="0" bIns="0">
            <a:spAutoFit/>
          </a:bodyPr>
          <a:lstStyle/>
          <a:p>
            <a:pPr algn="l">
              <a:lnSpc>
                <a:spcPct val="105000"/>
              </a:lnSpc>
            </a:pPr>
            <a:r>
              <a:rPr sz="1700" b="1" i="0">
                <a:solidFill>
                  <a:srgbClr val="0B1F3A"/>
                </a:solidFill>
                <a:latin typeface="Calibri"/>
              </a:rPr>
              <a:t>Review</a:t>
            </a:r>
          </a:p>
        </p:txBody>
      </p:sp>
      <p:sp>
        <p:nvSpPr>
          <p:cNvPr id="27" name="TextBox 26"/>
          <p:cNvSpPr txBox="1"/>
          <p:nvPr/>
        </p:nvSpPr>
        <p:spPr>
          <a:xfrm>
            <a:off x="9789932" y="2880360"/>
            <a:ext cx="1715963" cy="731520"/>
          </a:xfrm>
          <a:prstGeom prst="rect">
            <a:avLst/>
          </a:prstGeom>
          <a:noFill/>
        </p:spPr>
        <p:txBody>
          <a:bodyPr wrap="square" anchor="t" lIns="0" rIns="0" tIns="0" bIns="0">
            <a:spAutoFit/>
          </a:bodyPr>
          <a:lstStyle/>
          <a:p>
            <a:pPr algn="l">
              <a:lnSpc>
                <a:spcPct val="105000"/>
              </a:lnSpc>
            </a:pPr>
            <a:r>
              <a:rPr sz="1300" b="0" i="0">
                <a:solidFill>
                  <a:srgbClr val="0B1F3A"/>
                </a:solidFill>
                <a:latin typeface="Calibri"/>
              </a:rPr>
              <a:t>Clinician sees trend + history; tries what-if inputs</a:t>
            </a:r>
          </a:p>
        </p:txBody>
      </p:sp>
      <p:sp>
        <p:nvSpPr>
          <p:cNvPr id="28" name="TextBox 27"/>
          <p:cNvSpPr txBox="1"/>
          <p:nvPr/>
        </p:nvSpPr>
        <p:spPr>
          <a:xfrm>
            <a:off x="548640" y="3931920"/>
            <a:ext cx="5486400" cy="365760"/>
          </a:xfrm>
          <a:prstGeom prst="rect">
            <a:avLst/>
          </a:prstGeom>
          <a:noFill/>
        </p:spPr>
        <p:txBody>
          <a:bodyPr wrap="square" anchor="t" lIns="0" rIns="0" tIns="0" bIns="0">
            <a:spAutoFit/>
          </a:bodyPr>
          <a:lstStyle/>
          <a:p>
            <a:pPr algn="l">
              <a:lnSpc>
                <a:spcPct val="105000"/>
              </a:lnSpc>
            </a:pPr>
            <a:r>
              <a:rPr sz="1800" b="1" i="0">
                <a:solidFill>
                  <a:srgbClr val="0B1F3A"/>
                </a:solidFill>
                <a:latin typeface="Calibri"/>
              </a:rPr>
              <a:t>What makes it a twin</a:t>
            </a:r>
          </a:p>
        </p:txBody>
      </p:sp>
      <p:sp>
        <p:nvSpPr>
          <p:cNvPr id="29" name="TextBox 28"/>
          <p:cNvSpPr txBox="1"/>
          <p:nvPr/>
        </p:nvSpPr>
        <p:spPr>
          <a:xfrm>
            <a:off x="548640" y="4389120"/>
            <a:ext cx="5486400" cy="1920240"/>
          </a:xfrm>
          <a:prstGeom prst="rect">
            <a:avLst/>
          </a:prstGeom>
          <a:noFill/>
        </p:spPr>
        <p:txBody>
          <a:bodyPr wrap="square" lIns="0" rIns="0" tIns="0" bIns="0">
            <a:spAutoFit/>
          </a:bodyPr>
          <a:lstStyle/>
          <a:p>
            <a:pPr marL="201168" indent="-201168">
              <a:spcAft>
                <a:spcPts val="800"/>
              </a:spcAft>
              <a:buChar char="•"/>
            </a:pPr>
            <a:r>
              <a:rPr sz="1400" b="0">
                <a:solidFill>
                  <a:srgbClr val="0B1F3A"/>
                </a:solidFill>
                <a:latin typeface="Calibri"/>
              </a:rPr>
              <a:t>Patient-specific state object (EHR + observations + features + forecast history)</a:t>
            </a:r>
          </a:p>
          <a:p>
            <a:pPr marL="201168" indent="-201168">
              <a:spcAft>
                <a:spcPts val="800"/>
              </a:spcAft>
              <a:buChar char="•"/>
            </a:pPr>
            <a:r>
              <a:rPr sz="1400" b="0">
                <a:solidFill>
                  <a:srgbClr val="0B1F3A"/>
                </a:solidFill>
                <a:latin typeface="Calibri"/>
              </a:rPr>
              <a:t>Advances in time: deterministic replay of the sensor stream, or manual readings</a:t>
            </a:r>
          </a:p>
          <a:p>
            <a:pPr marL="201168" indent="-201168">
              <a:spcAft>
                <a:spcPts val="800"/>
              </a:spcAft>
              <a:buChar char="•"/>
            </a:pPr>
            <a:r>
              <a:rPr sz="1400" b="0">
                <a:solidFill>
                  <a:srgbClr val="0B1F3A"/>
                </a:solidFill>
                <a:latin typeface="Calibri"/>
              </a:rPr>
              <a:t>Every refresh is a real model call on updated inputs — no scripted percentages</a:t>
            </a:r>
          </a:p>
          <a:p>
            <a:pPr marL="201168" indent="-201168">
              <a:spcAft>
                <a:spcPts val="800"/>
              </a:spcAft>
              <a:buChar char="•"/>
            </a:pPr>
            <a:r>
              <a:rPr sz="1400" b="0">
                <a:solidFill>
                  <a:srgbClr val="0B1F3A"/>
                </a:solidFill>
                <a:latin typeface="Calibri"/>
              </a:rPr>
              <a:t>What-if mode edits a copy of the inputs and re-scores; the twin itself is unchanged</a:t>
            </a:r>
          </a:p>
        </p:txBody>
      </p:sp>
      <p:sp>
        <p:nvSpPr>
          <p:cNvPr id="30" name="Rounded Rectangle 29"/>
          <p:cNvSpPr/>
          <p:nvPr/>
        </p:nvSpPr>
        <p:spPr>
          <a:xfrm>
            <a:off x="6400800" y="3931920"/>
            <a:ext cx="5242255" cy="2286000"/>
          </a:xfrm>
          <a:prstGeom prst="roundRect">
            <a:avLst>
              <a:gd name="adj" fmla="val 3200"/>
            </a:avLst>
          </a:prstGeom>
          <a:solidFill>
            <a:srgbClr val="FCE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629400" y="4069080"/>
            <a:ext cx="4785055" cy="365760"/>
          </a:xfrm>
          <a:prstGeom prst="rect">
            <a:avLst/>
          </a:prstGeom>
          <a:noFill/>
        </p:spPr>
        <p:txBody>
          <a:bodyPr wrap="square" anchor="t" lIns="0" rIns="0" tIns="0" bIns="0">
            <a:spAutoFit/>
          </a:bodyPr>
          <a:lstStyle/>
          <a:p>
            <a:pPr algn="l">
              <a:lnSpc>
                <a:spcPct val="105000"/>
              </a:lnSpc>
            </a:pPr>
            <a:r>
              <a:rPr sz="1600" b="1" i="0">
                <a:solidFill>
                  <a:srgbClr val="9A5B00"/>
                </a:solidFill>
                <a:latin typeface="Calibri"/>
              </a:rPr>
              <a:t>Honest scope</a:t>
            </a:r>
          </a:p>
        </p:txBody>
      </p:sp>
      <p:sp>
        <p:nvSpPr>
          <p:cNvPr id="32" name="TextBox 31"/>
          <p:cNvSpPr txBox="1"/>
          <p:nvPr/>
        </p:nvSpPr>
        <p:spPr>
          <a:xfrm>
            <a:off x="6629400" y="4480560"/>
            <a:ext cx="4785055" cy="1737360"/>
          </a:xfrm>
          <a:prstGeom prst="rect">
            <a:avLst/>
          </a:prstGeom>
          <a:noFill/>
        </p:spPr>
        <p:txBody>
          <a:bodyPr wrap="square" lIns="0" rIns="0" tIns="0" bIns="0">
            <a:spAutoFit/>
          </a:bodyPr>
          <a:lstStyle/>
          <a:p>
            <a:pPr marL="201168" indent="-201168">
              <a:spcAft>
                <a:spcPts val="800"/>
              </a:spcAft>
              <a:buChar char="•"/>
            </a:pPr>
            <a:r>
              <a:rPr sz="1400" b="0">
                <a:solidFill>
                  <a:srgbClr val="0B1F3A"/>
                </a:solidFill>
                <a:latin typeface="Calibri"/>
              </a:rPr>
              <a:t>Data-driven twin, not a mechanistic physiology model</a:t>
            </a:r>
          </a:p>
          <a:p>
            <a:pPr marL="201168" indent="-201168">
              <a:spcAft>
                <a:spcPts val="800"/>
              </a:spcAft>
              <a:buChar char="•"/>
            </a:pPr>
            <a:r>
              <a:rPr sz="1400" b="0">
                <a:solidFill>
                  <a:srgbClr val="0B1F3A"/>
                </a:solidFill>
                <a:latin typeface="Calibri"/>
              </a:rPr>
              <a:t>No live wearable or hospital integration — the feed is a replay</a:t>
            </a:r>
          </a:p>
          <a:p>
            <a:pPr marL="201168" indent="-201168">
              <a:spcAft>
                <a:spcPts val="800"/>
              </a:spcAft>
              <a:buChar char="•"/>
            </a:pPr>
            <a:r>
              <a:rPr sz="1400" b="0">
                <a:solidFill>
                  <a:srgbClr val="0B1F3A"/>
                </a:solidFill>
                <a:latin typeface="Calibri"/>
              </a:rPr>
              <a:t>What-if shows model sensitivity, not the body's response</a:t>
            </a:r>
          </a:p>
        </p:txBody>
      </p:sp>
      <p:sp>
        <p:nvSpPr>
          <p:cNvPr id="33" name="TextBox 32"/>
          <p:cNvSpPr txBox="1"/>
          <p:nvPr/>
        </p:nvSpPr>
        <p:spPr>
          <a:xfrm>
            <a:off x="548640" y="6446520"/>
            <a:ext cx="8229600" cy="256032"/>
          </a:xfrm>
          <a:prstGeom prst="rect">
            <a:avLst/>
          </a:prstGeom>
          <a:noFill/>
        </p:spPr>
        <p:txBody>
          <a:bodyPr wrap="square" anchor="t" lIns="0" rIns="0" tIns="0" bIns="0">
            <a:spAutoFit/>
          </a:bodyPr>
          <a:lstStyle/>
          <a:p>
            <a:pPr algn="l">
              <a:lnSpc>
                <a:spcPct val="105000"/>
              </a:lnSpc>
            </a:pPr>
            <a:r>
              <a:rPr sz="1000" b="0" i="0">
                <a:solidFill>
                  <a:srgbClr val="5B6B82"/>
                </a:solidFill>
                <a:latin typeface="Calibri"/>
              </a:rPr>
              <a:t>SwasthTwin · research prototype on synthetic data · not a medical device</a:t>
            </a:r>
          </a:p>
        </p:txBody>
      </p:sp>
      <p:sp>
        <p:nvSpPr>
          <p:cNvPr id="34" name="TextBox 33"/>
          <p:cNvSpPr txBox="1"/>
          <p:nvPr/>
        </p:nvSpPr>
        <p:spPr>
          <a:xfrm>
            <a:off x="11155680" y="6446520"/>
            <a:ext cx="502920" cy="256032"/>
          </a:xfrm>
          <a:prstGeom prst="rect">
            <a:avLst/>
          </a:prstGeom>
          <a:noFill/>
        </p:spPr>
        <p:txBody>
          <a:bodyPr wrap="square" anchor="t" lIns="0" rIns="0" tIns="0" bIns="0">
            <a:spAutoFit/>
          </a:bodyPr>
          <a:lstStyle/>
          <a:p>
            <a:pPr algn="r">
              <a:lnSpc>
                <a:spcPct val="105000"/>
              </a:lnSpc>
            </a:pPr>
            <a:r>
              <a:rPr sz="1000" b="0" i="0">
                <a:solidFill>
                  <a:srgbClr val="5B6B82"/>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640080"/>
          </a:xfrm>
          <a:prstGeom prst="rect">
            <a:avLst/>
          </a:prstGeom>
          <a:noFill/>
        </p:spPr>
        <p:txBody>
          <a:bodyPr wrap="square" anchor="t" lIns="0" rIns="0" tIns="0" bIns="0">
            <a:spAutoFit/>
          </a:bodyPr>
          <a:lstStyle/>
          <a:p>
            <a:pPr algn="l">
              <a:lnSpc>
                <a:spcPct val="105000"/>
              </a:lnSpc>
            </a:pPr>
            <a:r>
              <a:rPr sz="3000" b="1" i="0">
                <a:solidFill>
                  <a:srgbClr val="0B1F3A"/>
                </a:solidFill>
                <a:latin typeface="Calibri"/>
              </a:rPr>
              <a:t>Two-stream fusion: sensors carry most signal, the EHR adds context</a:t>
            </a:r>
          </a:p>
        </p:txBody>
      </p:sp>
      <p:sp>
        <p:nvSpPr>
          <p:cNvPr id="3" name="TextBox 2"/>
          <p:cNvSpPr txBox="1"/>
          <p:nvPr/>
        </p:nvSpPr>
        <p:spPr>
          <a:xfrm>
            <a:off x="548640" y="1024128"/>
            <a:ext cx="11094415" cy="411480"/>
          </a:xfrm>
          <a:prstGeom prst="rect">
            <a:avLst/>
          </a:prstGeom>
          <a:noFill/>
        </p:spPr>
        <p:txBody>
          <a:bodyPr wrap="square" anchor="t" lIns="0" rIns="0" tIns="0" bIns="0">
            <a:spAutoFit/>
          </a:bodyPr>
          <a:lstStyle/>
          <a:p>
            <a:pPr algn="l">
              <a:lnSpc>
                <a:spcPct val="105000"/>
              </a:lnSpc>
            </a:pPr>
            <a:r>
              <a:rPr sz="1500" b="0" i="0">
                <a:solidFill>
                  <a:srgbClr val="5B6B82"/>
                </a:solidFill>
                <a:latin typeface="Calibri"/>
              </a:rPr>
              <a:t>Same algorithm trained on different inputs, evaluated on held-out test patients</a:t>
            </a:r>
          </a:p>
        </p:txBody>
      </p:sp>
      <p:sp>
        <p:nvSpPr>
          <p:cNvPr id="4" name="Rounded Rectangle 3"/>
          <p:cNvSpPr/>
          <p:nvPr/>
        </p:nvSpPr>
        <p:spPr>
          <a:xfrm>
            <a:off x="548640" y="1783080"/>
            <a:ext cx="2926080" cy="2148840"/>
          </a:xfrm>
          <a:prstGeom prst="roundRect">
            <a:avLst>
              <a:gd name="adj" fmla="val 3404"/>
            </a:avLst>
          </a:prstGeom>
          <a:solidFill>
            <a:srgbClr val="EFE9F7"/>
          </a:solidFill>
          <a:ln w="15875">
            <a:solidFill>
              <a:srgbClr val="5E469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856231"/>
            <a:ext cx="2743200" cy="2002536"/>
          </a:xfrm>
          <a:prstGeom prst="rect">
            <a:avLst/>
          </a:prstGeom>
          <a:noFill/>
        </p:spPr>
        <p:txBody>
          <a:bodyPr wrap="square" anchor="t" lIns="0" rIns="0" tIns="0" bIns="0">
            <a:spAutoFit/>
          </a:bodyPr>
          <a:lstStyle/>
          <a:p>
            <a:pPr algn="l">
              <a:lnSpc>
                <a:spcPct val="100000"/>
              </a:lnSpc>
            </a:pPr>
            <a:r>
              <a:rPr sz="1600" b="1" i="0">
                <a:solidFill>
                  <a:srgbClr val="5E4691"/>
                </a:solidFill>
                <a:latin typeface="Calibri"/>
              </a:rPr>
              <a:t>EHR · historical</a:t>
            </a:r>
          </a:p>
          <a:p>
            <a:pPr algn="l">
              <a:lnSpc>
                <a:spcPct val="100000"/>
              </a:lnSpc>
            </a:pPr>
            <a:r>
              <a:rPr sz="1300" b="0" i="0">
                <a:solidFill>
                  <a:srgbClr val="0B1F3A"/>
                </a:solidFill>
                <a:latin typeface="Calibri"/>
              </a:rPr>
              <a:t>Age, sex, BMI, diabetes status and duration, HbA1c, fasting glucose, eGFR, lipids, BP, medication class</a:t>
            </a:r>
          </a:p>
        </p:txBody>
      </p:sp>
      <p:sp>
        <p:nvSpPr>
          <p:cNvPr id="6" name="Rounded Rectangle 5"/>
          <p:cNvSpPr/>
          <p:nvPr/>
        </p:nvSpPr>
        <p:spPr>
          <a:xfrm>
            <a:off x="548640" y="4069080"/>
            <a:ext cx="2926080" cy="2148840"/>
          </a:xfrm>
          <a:prstGeom prst="roundRect">
            <a:avLst>
              <a:gd name="adj" fmla="val 3404"/>
            </a:avLst>
          </a:prstGeom>
          <a:solidFill>
            <a:srgbClr val="E5EEF9"/>
          </a:solidFill>
          <a:ln w="15875">
            <a:solidFill>
              <a:srgbClr val="24497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 y="4142232"/>
            <a:ext cx="2743200" cy="2002536"/>
          </a:xfrm>
          <a:prstGeom prst="rect">
            <a:avLst/>
          </a:prstGeom>
          <a:noFill/>
        </p:spPr>
        <p:txBody>
          <a:bodyPr wrap="square" anchor="t" lIns="0" rIns="0" tIns="0" bIns="0">
            <a:spAutoFit/>
          </a:bodyPr>
          <a:lstStyle/>
          <a:p>
            <a:pPr algn="l">
              <a:lnSpc>
                <a:spcPct val="100000"/>
              </a:lnSpc>
            </a:pPr>
            <a:r>
              <a:rPr sz="1600" b="1" i="0">
                <a:solidFill>
                  <a:srgbClr val="24497D"/>
                </a:solidFill>
                <a:latin typeface="Calibri"/>
              </a:rPr>
              <a:t>Sensors · dynamic</a:t>
            </a:r>
          </a:p>
          <a:p>
            <a:pPr algn="l">
              <a:lnSpc>
                <a:spcPct val="100000"/>
              </a:lnSpc>
            </a:pPr>
            <a:r>
              <a:rPr sz="1300" b="0" i="0">
                <a:solidFill>
                  <a:srgbClr val="0B1F3A"/>
                </a:solidFill>
                <a:latin typeface="Calibri"/>
              </a:rPr>
              <a:t>CGM level, trend, variability, coverage; heart rate, HRV vs own 24 h; steps; last night's sleep; optional meal log</a:t>
            </a:r>
          </a:p>
        </p:txBody>
      </p:sp>
      <p:sp>
        <p:nvSpPr>
          <p:cNvPr id="8" name="Rounded Rectangle 7"/>
          <p:cNvSpPr/>
          <p:nvPr/>
        </p:nvSpPr>
        <p:spPr>
          <a:xfrm>
            <a:off x="3657600" y="2926080"/>
            <a:ext cx="1920240" cy="2148840"/>
          </a:xfrm>
          <a:prstGeom prst="roundRect">
            <a:avLst>
              <a:gd name="adj" fmla="val 3809"/>
            </a:avLst>
          </a:prstGeom>
          <a:solidFill>
            <a:srgbClr val="E3F4F2"/>
          </a:solidFill>
          <a:ln w="15875">
            <a:solidFill>
              <a:srgbClr val="0F9D8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749039" y="2999232"/>
            <a:ext cx="1737360" cy="2002536"/>
          </a:xfrm>
          <a:prstGeom prst="rect">
            <a:avLst/>
          </a:prstGeom>
          <a:noFill/>
        </p:spPr>
        <p:txBody>
          <a:bodyPr wrap="square" anchor="t" lIns="0" rIns="0" tIns="0" bIns="0">
            <a:spAutoFit/>
          </a:bodyPr>
          <a:lstStyle/>
          <a:p>
            <a:pPr algn="l">
              <a:lnSpc>
                <a:spcPct val="100000"/>
              </a:lnSpc>
            </a:pPr>
            <a:r>
              <a:rPr sz="1500" b="1" i="0">
                <a:solidFill>
                  <a:srgbClr val="0F9D8F"/>
                </a:solidFill>
                <a:latin typeface="Calibri"/>
              </a:rPr>
              <a:t>Fusion features</a:t>
            </a:r>
          </a:p>
          <a:p>
            <a:pPr algn="l">
              <a:lnSpc>
                <a:spcPct val="100000"/>
              </a:lnSpc>
            </a:pPr>
            <a:r>
              <a:rPr sz="1250" b="0" i="0">
                <a:solidFill>
                  <a:srgbClr val="0B1F3A"/>
                </a:solidFill>
                <a:latin typeface="Calibri"/>
              </a:rPr>
              <a:t>Latest CGM minus the patient's EHR fasting glucose; HbA1c × logged carbs</a:t>
            </a:r>
          </a:p>
        </p:txBody>
      </p:sp>
      <p:cxnSp>
        <p:nvCxnSpPr>
          <p:cNvPr id="10" name="Connector 9"/>
          <p:cNvCxnSpPr/>
          <p:nvPr/>
        </p:nvCxnSpPr>
        <p:spPr>
          <a:xfrm>
            <a:off x="3493008" y="2834640"/>
            <a:ext cx="146304" cy="548640"/>
          </a:xfrm>
          <a:prstGeom prst="line">
            <a:avLst/>
          </a:prstGeom>
          <a:ln w="25400">
            <a:solidFill>
              <a:srgbClr val="5E46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3493008" y="4572000"/>
            <a:ext cx="146304" cy="548640"/>
          </a:xfrm>
          <a:prstGeom prst="line">
            <a:avLst/>
          </a:prstGeom>
          <a:ln w="25400">
            <a:solidFill>
              <a:srgbClr val="24497D"/>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2" name="Chart 11"/>
          <p:cNvGraphicFramePr>
            <a:graphicFrameLocks noGrp="1"/>
          </p:cNvGraphicFramePr>
          <p:nvPr/>
        </p:nvGraphicFramePr>
        <p:xfrm>
          <a:off x="5760720" y="1691640"/>
          <a:ext cx="5852160" cy="3154680"/>
        </p:xfrm>
        <a:graphic>
          <a:graphicData uri="http://schemas.openxmlformats.org/drawingml/2006/chart">
            <c:chart xmlns:c="http://schemas.openxmlformats.org/drawingml/2006/chart" r:id="rId2"/>
          </a:graphicData>
        </a:graphic>
      </p:graphicFrame>
      <p:sp>
        <p:nvSpPr>
          <p:cNvPr id="13" name="TextBox 12"/>
          <p:cNvSpPr txBox="1"/>
          <p:nvPr/>
        </p:nvSpPr>
        <p:spPr>
          <a:xfrm>
            <a:off x="5760720" y="4983480"/>
            <a:ext cx="5852160" cy="1371600"/>
          </a:xfrm>
          <a:prstGeom prst="rect">
            <a:avLst/>
          </a:prstGeom>
          <a:noFill/>
        </p:spPr>
        <p:txBody>
          <a:bodyPr wrap="square" lIns="0" rIns="0" tIns="0" bIns="0">
            <a:spAutoFit/>
          </a:bodyPr>
          <a:lstStyle/>
          <a:p>
            <a:pPr marL="201168" indent="-201168">
              <a:spcAft>
                <a:spcPts val="500"/>
              </a:spcAft>
              <a:buChar char="•"/>
            </a:pPr>
            <a:r>
              <a:rPr sz="1300" b="0">
                <a:solidFill>
                  <a:srgbClr val="0B1F3A"/>
                </a:solidFill>
                <a:latin typeface="Calibri"/>
              </a:rPr>
              <a:t>Adding the EHR to sensors: +0.002 PR-AUC overall, +0.015 during CGM gaps.</a:t>
            </a:r>
          </a:p>
          <a:p>
            <a:pPr marL="201168" indent="-201168">
              <a:spcAft>
                <a:spcPts val="500"/>
              </a:spcAft>
              <a:buChar char="•"/>
            </a:pPr>
            <a:r>
              <a:rPr sz="1300" b="0">
                <a:solidFill>
                  <a:srgbClr val="0B1F3A"/>
                </a:solidFill>
                <a:latin typeface="Calibri"/>
              </a:rPr>
              <a:t>Small gain; confidence intervals overlap (fused 0.939–0.988 vs sensor 0.938–0.986). We do not claim fusion is proven to help.</a:t>
            </a:r>
          </a:p>
        </p:txBody>
      </p:sp>
      <p:sp>
        <p:nvSpPr>
          <p:cNvPr id="14" name="TextBox 13"/>
          <p:cNvSpPr txBox="1"/>
          <p:nvPr/>
        </p:nvSpPr>
        <p:spPr>
          <a:xfrm>
            <a:off x="548640" y="6446520"/>
            <a:ext cx="8229600" cy="256032"/>
          </a:xfrm>
          <a:prstGeom prst="rect">
            <a:avLst/>
          </a:prstGeom>
          <a:noFill/>
        </p:spPr>
        <p:txBody>
          <a:bodyPr wrap="square" anchor="t" lIns="0" rIns="0" tIns="0" bIns="0">
            <a:spAutoFit/>
          </a:bodyPr>
          <a:lstStyle/>
          <a:p>
            <a:pPr algn="l">
              <a:lnSpc>
                <a:spcPct val="105000"/>
              </a:lnSpc>
            </a:pPr>
            <a:r>
              <a:rPr sz="1000" b="0" i="0">
                <a:solidFill>
                  <a:srgbClr val="5B6B82"/>
                </a:solidFill>
                <a:latin typeface="Calibri"/>
              </a:rPr>
              <a:t>SwasthTwin · research prototype on synthetic data · not a medical device</a:t>
            </a:r>
          </a:p>
        </p:txBody>
      </p:sp>
      <p:sp>
        <p:nvSpPr>
          <p:cNvPr id="15" name="TextBox 14"/>
          <p:cNvSpPr txBox="1"/>
          <p:nvPr/>
        </p:nvSpPr>
        <p:spPr>
          <a:xfrm>
            <a:off x="11155680" y="6446520"/>
            <a:ext cx="502920" cy="256032"/>
          </a:xfrm>
          <a:prstGeom prst="rect">
            <a:avLst/>
          </a:prstGeom>
          <a:noFill/>
        </p:spPr>
        <p:txBody>
          <a:bodyPr wrap="square" anchor="t" lIns="0" rIns="0" tIns="0" bIns="0">
            <a:spAutoFit/>
          </a:bodyPr>
          <a:lstStyle/>
          <a:p>
            <a:pPr algn="r">
              <a:lnSpc>
                <a:spcPct val="105000"/>
              </a:lnSpc>
            </a:pPr>
            <a:r>
              <a:rPr sz="1000" b="0" i="0">
                <a:solidFill>
                  <a:srgbClr val="5B6B82"/>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640080"/>
          </a:xfrm>
          <a:prstGeom prst="rect">
            <a:avLst/>
          </a:prstGeom>
          <a:noFill/>
        </p:spPr>
        <p:txBody>
          <a:bodyPr wrap="square" anchor="t" lIns="0" rIns="0" tIns="0" bIns="0">
            <a:spAutoFit/>
          </a:bodyPr>
          <a:lstStyle/>
          <a:p>
            <a:pPr algn="l">
              <a:lnSpc>
                <a:spcPct val="105000"/>
              </a:lnSpc>
            </a:pPr>
            <a:r>
              <a:rPr sz="3000" b="1" i="0">
                <a:solidFill>
                  <a:srgbClr val="0B1F3A"/>
                </a:solidFill>
                <a:latin typeface="Calibri"/>
              </a:rPr>
              <a:t>System architecture: offline training, runtime twin</a:t>
            </a:r>
          </a:p>
        </p:txBody>
      </p:sp>
      <p:pic>
        <p:nvPicPr>
          <p:cNvPr id="3" name="Picture 2" descr="architecture_diagram.png"/>
          <p:cNvPicPr>
            <a:picLocks noChangeAspect="1"/>
          </p:cNvPicPr>
          <p:nvPr/>
        </p:nvPicPr>
        <p:blipFill>
          <a:blip r:embed="rId2"/>
          <a:stretch>
            <a:fillRect/>
          </a:stretch>
        </p:blipFill>
        <p:spPr>
          <a:xfrm>
            <a:off x="1503642" y="1097280"/>
            <a:ext cx="9187510" cy="5166360"/>
          </a:xfrm>
          <a:prstGeom prst="rect">
            <a:avLst/>
          </a:prstGeom>
        </p:spPr>
      </p:pic>
      <p:sp>
        <p:nvSpPr>
          <p:cNvPr id="4" name="TextBox 3"/>
          <p:cNvSpPr txBox="1"/>
          <p:nvPr/>
        </p:nvSpPr>
        <p:spPr>
          <a:xfrm>
            <a:off x="548640" y="6446520"/>
            <a:ext cx="8229600" cy="256032"/>
          </a:xfrm>
          <a:prstGeom prst="rect">
            <a:avLst/>
          </a:prstGeom>
          <a:noFill/>
        </p:spPr>
        <p:txBody>
          <a:bodyPr wrap="square" anchor="t" lIns="0" rIns="0" tIns="0" bIns="0">
            <a:spAutoFit/>
          </a:bodyPr>
          <a:lstStyle/>
          <a:p>
            <a:pPr algn="l">
              <a:lnSpc>
                <a:spcPct val="105000"/>
              </a:lnSpc>
            </a:pPr>
            <a:r>
              <a:rPr sz="1000" b="0" i="0">
                <a:solidFill>
                  <a:srgbClr val="5B6B82"/>
                </a:solidFill>
                <a:latin typeface="Calibri"/>
              </a:rPr>
              <a:t>SwasthTwin · research prototype on synthetic data · not a medical device</a:t>
            </a:r>
          </a:p>
        </p:txBody>
      </p:sp>
      <p:sp>
        <p:nvSpPr>
          <p:cNvPr id="5" name="TextBox 4"/>
          <p:cNvSpPr txBox="1"/>
          <p:nvPr/>
        </p:nvSpPr>
        <p:spPr>
          <a:xfrm>
            <a:off x="11155680" y="6446520"/>
            <a:ext cx="502920" cy="256032"/>
          </a:xfrm>
          <a:prstGeom prst="rect">
            <a:avLst/>
          </a:prstGeom>
          <a:noFill/>
        </p:spPr>
        <p:txBody>
          <a:bodyPr wrap="square" anchor="t" lIns="0" rIns="0" tIns="0" bIns="0">
            <a:spAutoFit/>
          </a:bodyPr>
          <a:lstStyle/>
          <a:p>
            <a:pPr algn="r">
              <a:lnSpc>
                <a:spcPct val="105000"/>
              </a:lnSpc>
            </a:pPr>
            <a:r>
              <a:rPr sz="1000" b="0" i="0">
                <a:solidFill>
                  <a:srgbClr val="5B6B82"/>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640080"/>
          </a:xfrm>
          <a:prstGeom prst="rect">
            <a:avLst/>
          </a:prstGeom>
          <a:noFill/>
        </p:spPr>
        <p:txBody>
          <a:bodyPr wrap="square" anchor="t" lIns="0" rIns="0" tIns="0" bIns="0">
            <a:spAutoFit/>
          </a:bodyPr>
          <a:lstStyle/>
          <a:p>
            <a:pPr algn="l">
              <a:lnSpc>
                <a:spcPct val="105000"/>
              </a:lnSpc>
            </a:pPr>
            <a:r>
              <a:rPr sz="3000" b="1" i="0">
                <a:solidFill>
                  <a:srgbClr val="0B1F3A"/>
                </a:solidFill>
                <a:latin typeface="Calibri"/>
              </a:rPr>
              <a:t>Synthetic data, leakage-safe features, privacy by design</a:t>
            </a:r>
          </a:p>
        </p:txBody>
      </p:sp>
      <p:sp>
        <p:nvSpPr>
          <p:cNvPr id="3" name="TextBox 2"/>
          <p:cNvSpPr txBox="1"/>
          <p:nvPr/>
        </p:nvSpPr>
        <p:spPr>
          <a:xfrm>
            <a:off x="548640" y="1024128"/>
            <a:ext cx="11094415" cy="411480"/>
          </a:xfrm>
          <a:prstGeom prst="rect">
            <a:avLst/>
          </a:prstGeom>
          <a:noFill/>
        </p:spPr>
        <p:txBody>
          <a:bodyPr wrap="square" anchor="t" lIns="0" rIns="0" tIns="0" bIns="0">
            <a:spAutoFit/>
          </a:bodyPr>
          <a:lstStyle/>
          <a:p>
            <a:pPr algn="l">
              <a:lnSpc>
                <a:spcPct val="105000"/>
              </a:lnSpc>
            </a:pPr>
            <a:r>
              <a:rPr sz="1500" b="0" i="0">
                <a:solidFill>
                  <a:srgbClr val="5B6B82"/>
                </a:solidFill>
                <a:latin typeface="Calibri"/>
              </a:rPr>
              <a:t>80 fictional patients × 14 days of 5-minute data, fully reproducible from one seed</a:t>
            </a:r>
          </a:p>
        </p:txBody>
      </p:sp>
      <p:sp>
        <p:nvSpPr>
          <p:cNvPr id="4" name="Rounded Rectangle 3"/>
          <p:cNvSpPr/>
          <p:nvPr/>
        </p:nvSpPr>
        <p:spPr>
          <a:xfrm>
            <a:off x="548640" y="1737360"/>
            <a:ext cx="3515258" cy="3749039"/>
          </a:xfrm>
          <a:prstGeom prst="roundRect">
            <a:avLst>
              <a:gd name="adj" fmla="val 208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874519"/>
            <a:ext cx="3058058" cy="411480"/>
          </a:xfrm>
          <a:prstGeom prst="rect">
            <a:avLst/>
          </a:prstGeom>
          <a:noFill/>
        </p:spPr>
        <p:txBody>
          <a:bodyPr wrap="square" anchor="t" lIns="0" rIns="0" tIns="0" bIns="0">
            <a:spAutoFit/>
          </a:bodyPr>
          <a:lstStyle/>
          <a:p>
            <a:pPr algn="l">
              <a:lnSpc>
                <a:spcPct val="105000"/>
              </a:lnSpc>
            </a:pPr>
            <a:r>
              <a:rPr sz="1800" b="1" i="0">
                <a:solidFill>
                  <a:srgbClr val="0F9D8F"/>
                </a:solidFill>
                <a:latin typeface="Calibri"/>
              </a:rPr>
              <a:t>Synthetic cohort</a:t>
            </a:r>
          </a:p>
        </p:txBody>
      </p:sp>
      <p:sp>
        <p:nvSpPr>
          <p:cNvPr id="6" name="TextBox 5"/>
          <p:cNvSpPr txBox="1"/>
          <p:nvPr/>
        </p:nvSpPr>
        <p:spPr>
          <a:xfrm>
            <a:off x="777240" y="2423160"/>
            <a:ext cx="3058058" cy="3657600"/>
          </a:xfrm>
          <a:prstGeom prst="rect">
            <a:avLst/>
          </a:prstGeom>
          <a:noFill/>
        </p:spPr>
        <p:txBody>
          <a:bodyPr wrap="square" lIns="0" rIns="0" tIns="0" bIns="0">
            <a:spAutoFit/>
          </a:bodyPr>
          <a:lstStyle/>
          <a:p>
            <a:pPr marL="201168" indent="-201168">
              <a:spcAft>
                <a:spcPts val="900"/>
              </a:spcAft>
              <a:buChar char="•"/>
            </a:pPr>
            <a:r>
              <a:rPr sz="1400" b="0">
                <a:solidFill>
                  <a:srgbClr val="0B1F3A"/>
                </a:solidFill>
                <a:latin typeface="Calibri"/>
              </a:rPr>
              <a:t>EHR drives the simulator: higher HbA1c / BMI → larger meal spikes; meds damp them</a:t>
            </a:r>
          </a:p>
          <a:p>
            <a:pPr marL="201168" indent="-201168">
              <a:spcAft>
                <a:spcPts val="900"/>
              </a:spcAft>
              <a:buChar char="•"/>
            </a:pPr>
            <a:r>
              <a:rPr sz="1400" b="0">
                <a:solidFill>
                  <a:srgbClr val="0B1F3A"/>
                </a:solidFill>
                <a:latin typeface="Calibri"/>
              </a:rPr>
              <a:t>Meals, walks, stress, short sleep and dawn rise shape glucose; HR/HRV respond</a:t>
            </a:r>
          </a:p>
          <a:p>
            <a:pPr marL="201168" indent="-201168">
              <a:spcAft>
                <a:spcPts val="900"/>
              </a:spcAft>
              <a:buChar char="•"/>
            </a:pPr>
            <a:r>
              <a:rPr sz="1400" b="0">
                <a:solidFill>
                  <a:srgbClr val="0B1F3A"/>
                </a:solidFill>
                <a:latin typeface="Calibri"/>
              </a:rPr>
              <a:t>Realistic mess: CGM gaps, watch-off hours, noisy and incomplete meal logs</a:t>
            </a:r>
          </a:p>
          <a:p>
            <a:pPr marL="201168" indent="-201168">
              <a:spcAft>
                <a:spcPts val="900"/>
              </a:spcAft>
              <a:buChar char="•"/>
            </a:pPr>
            <a:r>
              <a:rPr sz="1400" b="0">
                <a:solidFill>
                  <a:srgbClr val="0B1F3A"/>
                </a:solidFill>
                <a:latin typeface="Calibri"/>
              </a:rPr>
              <a:t>Hand-picked coefficients — documented, not fitted to real data</a:t>
            </a:r>
          </a:p>
        </p:txBody>
      </p:sp>
      <p:sp>
        <p:nvSpPr>
          <p:cNvPr id="7" name="Rounded Rectangle 6"/>
          <p:cNvSpPr/>
          <p:nvPr/>
        </p:nvSpPr>
        <p:spPr>
          <a:xfrm>
            <a:off x="4338218" y="1737360"/>
            <a:ext cx="3515258" cy="3749039"/>
          </a:xfrm>
          <a:prstGeom prst="roundRect">
            <a:avLst>
              <a:gd name="adj" fmla="val 208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66818" y="1874519"/>
            <a:ext cx="3058058" cy="411480"/>
          </a:xfrm>
          <a:prstGeom prst="rect">
            <a:avLst/>
          </a:prstGeom>
          <a:noFill/>
        </p:spPr>
        <p:txBody>
          <a:bodyPr wrap="square" anchor="t" lIns="0" rIns="0" tIns="0" bIns="0">
            <a:spAutoFit/>
          </a:bodyPr>
          <a:lstStyle/>
          <a:p>
            <a:pPr algn="l">
              <a:lnSpc>
                <a:spcPct val="105000"/>
              </a:lnSpc>
            </a:pPr>
            <a:r>
              <a:rPr sz="1800" b="1" i="0">
                <a:solidFill>
                  <a:srgbClr val="24497D"/>
                </a:solidFill>
                <a:latin typeface="Calibri"/>
              </a:rPr>
              <a:t>Features (all from the past)</a:t>
            </a:r>
          </a:p>
        </p:txBody>
      </p:sp>
      <p:sp>
        <p:nvSpPr>
          <p:cNvPr id="9" name="TextBox 8"/>
          <p:cNvSpPr txBox="1"/>
          <p:nvPr/>
        </p:nvSpPr>
        <p:spPr>
          <a:xfrm>
            <a:off x="4566818" y="2423160"/>
            <a:ext cx="3058058" cy="3657600"/>
          </a:xfrm>
          <a:prstGeom prst="rect">
            <a:avLst/>
          </a:prstGeom>
          <a:noFill/>
        </p:spPr>
        <p:txBody>
          <a:bodyPr wrap="square" lIns="0" rIns="0" tIns="0" bIns="0">
            <a:spAutoFit/>
          </a:bodyPr>
          <a:lstStyle/>
          <a:p>
            <a:pPr marL="201168" indent="-201168">
              <a:spcAft>
                <a:spcPts val="900"/>
              </a:spcAft>
              <a:buChar char="•"/>
            </a:pPr>
            <a:r>
              <a:rPr sz="1400" b="0">
                <a:solidFill>
                  <a:srgbClr val="0B1F3A"/>
                </a:solidFill>
                <a:latin typeface="Calibri"/>
              </a:rPr>
              <a:t>CGM: level, 15/30-min trend, mean / SD / min / max, time in range, coverage</a:t>
            </a:r>
          </a:p>
          <a:p>
            <a:pPr marL="201168" indent="-201168">
              <a:spcAft>
                <a:spcPts val="900"/>
              </a:spcAft>
              <a:buChar char="•"/>
            </a:pPr>
            <a:r>
              <a:rPr sz="1400" b="0">
                <a:solidFill>
                  <a:srgbClr val="0B1F3A"/>
                </a:solidFill>
                <a:latin typeface="Calibri"/>
              </a:rPr>
              <a:t>Wearable: HR, HRV vs own 24 h, steps, active minutes; last night's sleep</a:t>
            </a:r>
          </a:p>
          <a:p>
            <a:pPr marL="201168" indent="-201168">
              <a:spcAft>
                <a:spcPts val="900"/>
              </a:spcAft>
              <a:buChar char="•"/>
            </a:pPr>
            <a:r>
              <a:rPr sz="1400" b="0">
                <a:solidFill>
                  <a:srgbClr val="0B1F3A"/>
                </a:solidFill>
                <a:latin typeface="Calibri"/>
              </a:rPr>
              <a:t>Meals count only from the moment they are logged</a:t>
            </a:r>
          </a:p>
          <a:p>
            <a:pPr marL="201168" indent="-201168">
              <a:spcAft>
                <a:spcPts val="900"/>
              </a:spcAft>
              <a:buChar char="•"/>
            </a:pPr>
            <a:r>
              <a:rPr sz="1400" b="0">
                <a:solidFill>
                  <a:srgbClr val="0B1F3A"/>
                </a:solidFill>
                <a:latin typeface="Calibri"/>
              </a:rPr>
              <a:t>Test: features identical whether or not future data exists</a:t>
            </a:r>
          </a:p>
        </p:txBody>
      </p:sp>
      <p:sp>
        <p:nvSpPr>
          <p:cNvPr id="10" name="Rounded Rectangle 9"/>
          <p:cNvSpPr/>
          <p:nvPr/>
        </p:nvSpPr>
        <p:spPr>
          <a:xfrm>
            <a:off x="8127796" y="1737360"/>
            <a:ext cx="3515258" cy="3749039"/>
          </a:xfrm>
          <a:prstGeom prst="roundRect">
            <a:avLst>
              <a:gd name="adj" fmla="val 208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356396" y="1874519"/>
            <a:ext cx="3058058" cy="411480"/>
          </a:xfrm>
          <a:prstGeom prst="rect">
            <a:avLst/>
          </a:prstGeom>
          <a:noFill/>
        </p:spPr>
        <p:txBody>
          <a:bodyPr wrap="square" anchor="t" lIns="0" rIns="0" tIns="0" bIns="0">
            <a:spAutoFit/>
          </a:bodyPr>
          <a:lstStyle/>
          <a:p>
            <a:pPr algn="l">
              <a:lnSpc>
                <a:spcPct val="105000"/>
              </a:lnSpc>
            </a:pPr>
            <a:r>
              <a:rPr sz="1800" b="1" i="0">
                <a:solidFill>
                  <a:srgbClr val="5E4691"/>
                </a:solidFill>
                <a:latin typeface="Calibri"/>
              </a:rPr>
              <a:t>Privacy &amp; safety</a:t>
            </a:r>
          </a:p>
        </p:txBody>
      </p:sp>
      <p:sp>
        <p:nvSpPr>
          <p:cNvPr id="12" name="TextBox 11"/>
          <p:cNvSpPr txBox="1"/>
          <p:nvPr/>
        </p:nvSpPr>
        <p:spPr>
          <a:xfrm>
            <a:off x="8356396" y="2423160"/>
            <a:ext cx="3058058" cy="3657600"/>
          </a:xfrm>
          <a:prstGeom prst="rect">
            <a:avLst/>
          </a:prstGeom>
          <a:noFill/>
        </p:spPr>
        <p:txBody>
          <a:bodyPr wrap="square" lIns="0" rIns="0" tIns="0" bIns="0">
            <a:spAutoFit/>
          </a:bodyPr>
          <a:lstStyle/>
          <a:p>
            <a:pPr marL="201168" indent="-201168">
              <a:spcAft>
                <a:spcPts val="900"/>
              </a:spcAft>
              <a:buChar char="•"/>
            </a:pPr>
            <a:r>
              <a:rPr sz="1400" b="0">
                <a:solidFill>
                  <a:srgbClr val="0B1F3A"/>
                </a:solidFill>
                <a:latin typeface="Calibri"/>
              </a:rPr>
              <a:t>No real person's data; IDs are SYN-0001…</a:t>
            </a:r>
          </a:p>
          <a:p>
            <a:pPr marL="201168" indent="-201168">
              <a:spcAft>
                <a:spcPts val="900"/>
              </a:spcAft>
              <a:buChar char="•"/>
            </a:pPr>
            <a:r>
              <a:rPr sz="1400" b="0">
                <a:solidFill>
                  <a:srgbClr val="0B1F3A"/>
                </a:solidFill>
                <a:latin typeface="Calibri"/>
              </a:rPr>
              <a:t>No names, phone numbers or government IDs anywhere</a:t>
            </a:r>
          </a:p>
          <a:p>
            <a:pPr marL="201168" indent="-201168">
              <a:spcAft>
                <a:spcPts val="900"/>
              </a:spcAft>
              <a:buChar char="•"/>
            </a:pPr>
            <a:r>
              <a:rPr sz="1400" b="0">
                <a:solidFill>
                  <a:srgbClr val="0B1F3A"/>
                </a:solidFill>
                <a:latin typeface="Calibri"/>
              </a:rPr>
              <a:t>Runs fully offline; no API keys or cloud services</a:t>
            </a:r>
          </a:p>
          <a:p>
            <a:pPr marL="201168" indent="-201168">
              <a:spcAft>
                <a:spcPts val="900"/>
              </a:spcAft>
              <a:buChar char="•"/>
            </a:pPr>
            <a:r>
              <a:rPr sz="1400" b="0">
                <a:solidFill>
                  <a:srgbClr val="0B1F3A"/>
                </a:solidFill>
                <a:latin typeface="Calibri"/>
              </a:rPr>
              <a:t>Prominent not-a-medical-device notice in every view</a:t>
            </a:r>
          </a:p>
        </p:txBody>
      </p:sp>
      <p:sp>
        <p:nvSpPr>
          <p:cNvPr id="13" name="TextBox 12"/>
          <p:cNvSpPr txBox="1"/>
          <p:nvPr/>
        </p:nvSpPr>
        <p:spPr>
          <a:xfrm>
            <a:off x="548640" y="6446520"/>
            <a:ext cx="8229600" cy="256032"/>
          </a:xfrm>
          <a:prstGeom prst="rect">
            <a:avLst/>
          </a:prstGeom>
          <a:noFill/>
        </p:spPr>
        <p:txBody>
          <a:bodyPr wrap="square" anchor="t" lIns="0" rIns="0" tIns="0" bIns="0">
            <a:spAutoFit/>
          </a:bodyPr>
          <a:lstStyle/>
          <a:p>
            <a:pPr algn="l">
              <a:lnSpc>
                <a:spcPct val="105000"/>
              </a:lnSpc>
            </a:pPr>
            <a:r>
              <a:rPr sz="1000" b="0" i="0">
                <a:solidFill>
                  <a:srgbClr val="5B6B82"/>
                </a:solidFill>
                <a:latin typeface="Calibri"/>
              </a:rPr>
              <a:t>SwasthTwin · research prototype on synthetic data · not a medical device</a:t>
            </a:r>
          </a:p>
        </p:txBody>
      </p:sp>
      <p:sp>
        <p:nvSpPr>
          <p:cNvPr id="14" name="TextBox 13"/>
          <p:cNvSpPr txBox="1"/>
          <p:nvPr/>
        </p:nvSpPr>
        <p:spPr>
          <a:xfrm>
            <a:off x="11155680" y="6446520"/>
            <a:ext cx="502920" cy="256032"/>
          </a:xfrm>
          <a:prstGeom prst="rect">
            <a:avLst/>
          </a:prstGeom>
          <a:noFill/>
        </p:spPr>
        <p:txBody>
          <a:bodyPr wrap="square" anchor="t" lIns="0" rIns="0" tIns="0" bIns="0">
            <a:spAutoFit/>
          </a:bodyPr>
          <a:lstStyle/>
          <a:p>
            <a:pPr algn="r">
              <a:lnSpc>
                <a:spcPct val="105000"/>
              </a:lnSpc>
            </a:pPr>
            <a:r>
              <a:rPr sz="1000" b="0" i="0">
                <a:solidFill>
                  <a:srgbClr val="5B6B82"/>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640080"/>
          </a:xfrm>
          <a:prstGeom prst="rect">
            <a:avLst/>
          </a:prstGeom>
          <a:noFill/>
        </p:spPr>
        <p:txBody>
          <a:bodyPr wrap="square" anchor="t" lIns="0" rIns="0" tIns="0" bIns="0">
            <a:spAutoFit/>
          </a:bodyPr>
          <a:lstStyle/>
          <a:p>
            <a:pPr algn="l">
              <a:lnSpc>
                <a:spcPct val="105000"/>
              </a:lnSpc>
            </a:pPr>
            <a:r>
              <a:rPr sz="3000" b="1" i="0">
                <a:solidFill>
                  <a:srgbClr val="0B1F3A"/>
                </a:solidFill>
                <a:latin typeface="Calibri"/>
              </a:rPr>
              <a:t>ML approach and leakage-resistant evaluation</a:t>
            </a:r>
          </a:p>
        </p:txBody>
      </p:sp>
      <p:sp>
        <p:nvSpPr>
          <p:cNvPr id="3" name="TextBox 2"/>
          <p:cNvSpPr txBox="1"/>
          <p:nvPr/>
        </p:nvSpPr>
        <p:spPr>
          <a:xfrm>
            <a:off x="548640" y="1024128"/>
            <a:ext cx="11094415" cy="411480"/>
          </a:xfrm>
          <a:prstGeom prst="rect">
            <a:avLst/>
          </a:prstGeom>
          <a:noFill/>
        </p:spPr>
        <p:txBody>
          <a:bodyPr wrap="square" anchor="t" lIns="0" rIns="0" tIns="0" bIns="0">
            <a:spAutoFit/>
          </a:bodyPr>
          <a:lstStyle/>
          <a:p>
            <a:pPr algn="l">
              <a:lnSpc>
                <a:spcPct val="105000"/>
              </a:lnSpc>
            </a:pPr>
            <a:r>
              <a:rPr sz="1500" b="0" i="0">
                <a:solidFill>
                  <a:srgbClr val="5B6B82"/>
                </a:solidFill>
                <a:latin typeface="Calibri"/>
              </a:rPr>
              <a:t>Simple baselines first; choose the model on validation patients; touch test patients once</a:t>
            </a:r>
          </a:p>
        </p:txBody>
      </p:sp>
      <p:sp>
        <p:nvSpPr>
          <p:cNvPr id="4" name="Rounded Rectangle 3"/>
          <p:cNvSpPr/>
          <p:nvPr/>
        </p:nvSpPr>
        <p:spPr>
          <a:xfrm>
            <a:off x="548640" y="1783080"/>
            <a:ext cx="5120640" cy="731520"/>
          </a:xfrm>
          <a:prstGeom prst="roundRect">
            <a:avLst>
              <a:gd name="adj" fmla="val 10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874519"/>
            <a:ext cx="4754880" cy="594360"/>
          </a:xfrm>
          <a:prstGeom prst="rect">
            <a:avLst/>
          </a:prstGeom>
          <a:noFill/>
        </p:spPr>
        <p:txBody>
          <a:bodyPr wrap="square" anchor="t" lIns="0" rIns="0" tIns="0" bIns="0">
            <a:spAutoFit/>
          </a:bodyPr>
          <a:lstStyle/>
          <a:p>
            <a:pPr algn="l">
              <a:lnSpc>
                <a:spcPct val="105000"/>
              </a:lnSpc>
            </a:pPr>
            <a:r>
              <a:rPr sz="1500" b="1" i="0">
                <a:solidFill>
                  <a:srgbClr val="0B1F3A"/>
                </a:solidFill>
                <a:latin typeface="Calibri"/>
              </a:rPr>
              <a:t>Rule baseline</a:t>
            </a:r>
          </a:p>
          <a:p>
            <a:pPr algn="l">
              <a:lnSpc>
                <a:spcPct val="105000"/>
              </a:lnSpc>
            </a:pPr>
            <a:r>
              <a:rPr sz="1250" b="0" i="0">
                <a:solidFill>
                  <a:srgbClr val="5B6B82"/>
                </a:solidFill>
                <a:latin typeface="Calibri"/>
              </a:rPr>
              <a:t>No ML: alert if current or 60-min trend-projected CGM ≥ 180</a:t>
            </a:r>
          </a:p>
        </p:txBody>
      </p:sp>
      <p:sp>
        <p:nvSpPr>
          <p:cNvPr id="6" name="Rounded Rectangle 5"/>
          <p:cNvSpPr/>
          <p:nvPr/>
        </p:nvSpPr>
        <p:spPr>
          <a:xfrm>
            <a:off x="548640" y="2651760"/>
            <a:ext cx="5120640" cy="731520"/>
          </a:xfrm>
          <a:prstGeom prst="roundRect">
            <a:avLst>
              <a:gd name="adj" fmla="val 10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743200"/>
            <a:ext cx="4754880" cy="594360"/>
          </a:xfrm>
          <a:prstGeom prst="rect">
            <a:avLst/>
          </a:prstGeom>
          <a:noFill/>
        </p:spPr>
        <p:txBody>
          <a:bodyPr wrap="square" anchor="t" lIns="0" rIns="0" tIns="0" bIns="0">
            <a:spAutoFit/>
          </a:bodyPr>
          <a:lstStyle/>
          <a:p>
            <a:pPr algn="l">
              <a:lnSpc>
                <a:spcPct val="105000"/>
              </a:lnSpc>
            </a:pPr>
            <a:r>
              <a:rPr sz="1500" b="1" i="0">
                <a:solidFill>
                  <a:srgbClr val="0B1F3A"/>
                </a:solidFill>
                <a:latin typeface="Calibri"/>
              </a:rPr>
              <a:t>Logistic regression</a:t>
            </a:r>
          </a:p>
          <a:p>
            <a:pPr algn="l">
              <a:lnSpc>
                <a:spcPct val="105000"/>
              </a:lnSpc>
            </a:pPr>
            <a:r>
              <a:rPr sz="1250" b="0" i="0">
                <a:solidFill>
                  <a:srgbClr val="5B6B82"/>
                </a:solidFill>
                <a:latin typeface="Calibri"/>
              </a:rPr>
              <a:t>Linear baseline ML model</a:t>
            </a:r>
          </a:p>
        </p:txBody>
      </p:sp>
      <p:sp>
        <p:nvSpPr>
          <p:cNvPr id="8" name="Rounded Rectangle 7"/>
          <p:cNvSpPr/>
          <p:nvPr/>
        </p:nvSpPr>
        <p:spPr>
          <a:xfrm>
            <a:off x="548640" y="3520439"/>
            <a:ext cx="5120640" cy="731520"/>
          </a:xfrm>
          <a:prstGeom prst="roundRect">
            <a:avLst>
              <a:gd name="adj" fmla="val 10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3611879"/>
            <a:ext cx="4754880" cy="594360"/>
          </a:xfrm>
          <a:prstGeom prst="rect">
            <a:avLst/>
          </a:prstGeom>
          <a:noFill/>
        </p:spPr>
        <p:txBody>
          <a:bodyPr wrap="square" anchor="t" lIns="0" rIns="0" tIns="0" bIns="0">
            <a:spAutoFit/>
          </a:bodyPr>
          <a:lstStyle/>
          <a:p>
            <a:pPr algn="l">
              <a:lnSpc>
                <a:spcPct val="105000"/>
              </a:lnSpc>
            </a:pPr>
            <a:r>
              <a:rPr sz="1500" b="1" i="0">
                <a:solidFill>
                  <a:srgbClr val="0B1F3A"/>
                </a:solidFill>
                <a:latin typeface="Calibri"/>
              </a:rPr>
              <a:t>Random forest</a:t>
            </a:r>
          </a:p>
          <a:p>
            <a:pPr algn="l">
              <a:lnSpc>
                <a:spcPct val="105000"/>
              </a:lnSpc>
            </a:pPr>
            <a:r>
              <a:rPr sz="1250" b="0" i="0">
                <a:solidFill>
                  <a:srgbClr val="5B6B82"/>
                </a:solidFill>
                <a:latin typeface="Calibri"/>
              </a:rPr>
              <a:t>Nonlinear ensemble</a:t>
            </a:r>
          </a:p>
        </p:txBody>
      </p:sp>
      <p:sp>
        <p:nvSpPr>
          <p:cNvPr id="10" name="Rounded Rectangle 9"/>
          <p:cNvSpPr/>
          <p:nvPr/>
        </p:nvSpPr>
        <p:spPr>
          <a:xfrm>
            <a:off x="548640" y="4389120"/>
            <a:ext cx="5120640" cy="731520"/>
          </a:xfrm>
          <a:prstGeom prst="roundRect">
            <a:avLst>
              <a:gd name="adj" fmla="val 10000"/>
            </a:avLst>
          </a:prstGeom>
          <a:solidFill>
            <a:srgbClr val="E3F4F2"/>
          </a:solidFill>
          <a:ln w="15875">
            <a:solidFill>
              <a:srgbClr val="0F9D8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4480559"/>
            <a:ext cx="4754880" cy="594360"/>
          </a:xfrm>
          <a:prstGeom prst="rect">
            <a:avLst/>
          </a:prstGeom>
          <a:noFill/>
        </p:spPr>
        <p:txBody>
          <a:bodyPr wrap="square" anchor="t" lIns="0" rIns="0" tIns="0" bIns="0">
            <a:spAutoFit/>
          </a:bodyPr>
          <a:lstStyle/>
          <a:p>
            <a:pPr algn="l">
              <a:lnSpc>
                <a:spcPct val="105000"/>
              </a:lnSpc>
            </a:pPr>
            <a:r>
              <a:rPr sz="1500" b="1" i="0">
                <a:solidFill>
                  <a:srgbClr val="0F9D8F"/>
                </a:solidFill>
                <a:latin typeface="Calibri"/>
              </a:rPr>
              <a:t>Gradient boosting   (selected)</a:t>
            </a:r>
          </a:p>
          <a:p>
            <a:pPr algn="l">
              <a:lnSpc>
                <a:spcPct val="105000"/>
              </a:lnSpc>
            </a:pPr>
            <a:r>
              <a:rPr sz="1250" b="0" i="0">
                <a:solidFill>
                  <a:srgbClr val="5B6B82"/>
                </a:solidFill>
                <a:latin typeface="Calibri"/>
              </a:rPr>
              <a:t>Histogram gradient-boosted trees</a:t>
            </a:r>
          </a:p>
        </p:txBody>
      </p:sp>
      <p:sp>
        <p:nvSpPr>
          <p:cNvPr id="12" name="TextBox 11"/>
          <p:cNvSpPr txBox="1"/>
          <p:nvPr/>
        </p:nvSpPr>
        <p:spPr>
          <a:xfrm>
            <a:off x="548640" y="5349240"/>
            <a:ext cx="5120640" cy="822960"/>
          </a:xfrm>
          <a:prstGeom prst="rect">
            <a:avLst/>
          </a:prstGeom>
          <a:noFill/>
        </p:spPr>
        <p:txBody>
          <a:bodyPr wrap="square" anchor="t" lIns="0" rIns="0" tIns="0" bIns="0">
            <a:spAutoFit/>
          </a:bodyPr>
          <a:lstStyle/>
          <a:p>
            <a:pPr algn="l">
              <a:lnSpc>
                <a:spcPct val="105000"/>
              </a:lnSpc>
            </a:pPr>
            <a:r>
              <a:rPr sz="1250" b="0" i="0">
                <a:solidFill>
                  <a:srgbClr val="5B6B82"/>
                </a:solidFill>
                <a:latin typeface="Calibri"/>
              </a:rPr>
              <a:t>scikit-learn pipelines: median imputation + missing-value indicators, one-hot encoding, model. Saved with joblib with feature list, threshold and version.</a:t>
            </a:r>
          </a:p>
        </p:txBody>
      </p:sp>
      <p:sp>
        <p:nvSpPr>
          <p:cNvPr id="13" name="TextBox 12"/>
          <p:cNvSpPr txBox="1"/>
          <p:nvPr/>
        </p:nvSpPr>
        <p:spPr>
          <a:xfrm>
            <a:off x="6035040" y="1737360"/>
            <a:ext cx="5486400" cy="365760"/>
          </a:xfrm>
          <a:prstGeom prst="rect">
            <a:avLst/>
          </a:prstGeom>
          <a:noFill/>
        </p:spPr>
        <p:txBody>
          <a:bodyPr wrap="square" anchor="t" lIns="0" rIns="0" tIns="0" bIns="0">
            <a:spAutoFit/>
          </a:bodyPr>
          <a:lstStyle/>
          <a:p>
            <a:pPr algn="l">
              <a:lnSpc>
                <a:spcPct val="105000"/>
              </a:lnSpc>
            </a:pPr>
            <a:r>
              <a:rPr sz="1800" b="1" i="0">
                <a:solidFill>
                  <a:srgbClr val="0B1F3A"/>
                </a:solidFill>
                <a:latin typeface="Calibri"/>
              </a:rPr>
              <a:t>Evaluation design</a:t>
            </a:r>
          </a:p>
        </p:txBody>
      </p:sp>
      <p:sp>
        <p:nvSpPr>
          <p:cNvPr id="14" name="TextBox 13"/>
          <p:cNvSpPr txBox="1"/>
          <p:nvPr/>
        </p:nvSpPr>
        <p:spPr>
          <a:xfrm>
            <a:off x="6035040" y="2194560"/>
            <a:ext cx="5608015" cy="4023360"/>
          </a:xfrm>
          <a:prstGeom prst="rect">
            <a:avLst/>
          </a:prstGeom>
          <a:noFill/>
        </p:spPr>
        <p:txBody>
          <a:bodyPr wrap="square" lIns="0" rIns="0" tIns="0" bIns="0">
            <a:spAutoFit/>
          </a:bodyPr>
          <a:lstStyle/>
          <a:p>
            <a:pPr marL="201168" indent="-201168">
              <a:spcAft>
                <a:spcPts val="800"/>
              </a:spcAft>
              <a:buChar char="•"/>
            </a:pPr>
            <a:r>
              <a:rPr sz="1400" b="1">
                <a:solidFill>
                  <a:srgbClr val="0B1F3A"/>
                </a:solidFill>
                <a:latin typeface="Calibri"/>
              </a:rPr>
              <a:t>Split by patient: </a:t>
            </a:r>
            <a:r>
              <a:rPr sz="1400" b="0">
                <a:solidFill>
                  <a:srgbClr val="0B1F3A"/>
                </a:solidFill>
                <a:latin typeface="Calibri"/>
              </a:rPr>
              <a:t>48 train / 16 validation / 16 test patients — nobody appears in two splits</a:t>
            </a:r>
          </a:p>
          <a:p>
            <a:pPr marL="201168" indent="-201168">
              <a:spcAft>
                <a:spcPts val="800"/>
              </a:spcAft>
              <a:buChar char="•"/>
            </a:pPr>
            <a:r>
              <a:rPr sz="1400" b="1">
                <a:solidFill>
                  <a:srgbClr val="0B1F3A"/>
                </a:solidFill>
                <a:latin typeface="Calibri"/>
              </a:rPr>
              <a:t>Temporal check: </a:t>
            </a:r>
            <a:r>
              <a:rPr sz="1400" b="0">
                <a:solidFill>
                  <a:srgbClr val="0B1F3A"/>
                </a:solidFill>
                <a:latin typeface="Calibri"/>
              </a:rPr>
              <a:t>train on days 0–9 of training patients, test on days 10+ of test patients</a:t>
            </a:r>
          </a:p>
          <a:p>
            <a:pPr marL="201168" indent="-201168">
              <a:spcAft>
                <a:spcPts val="800"/>
              </a:spcAft>
              <a:buChar char="•"/>
            </a:pPr>
            <a:r>
              <a:rPr sz="1400" b="1">
                <a:solidFill>
                  <a:srgbClr val="0B1F3A"/>
                </a:solidFill>
                <a:latin typeface="Calibri"/>
              </a:rPr>
              <a:t>Selection: </a:t>
            </a:r>
            <a:r>
              <a:rPr sz="1400" b="0">
                <a:solidFill>
                  <a:srgbClr val="0B1F3A"/>
                </a:solidFill>
                <a:latin typeface="Calibri"/>
              </a:rPr>
              <a:t>highest validation PR-AUC; alert threshold set on validation for ≥80% sensitivity</a:t>
            </a:r>
          </a:p>
          <a:p>
            <a:pPr marL="201168" indent="-201168">
              <a:spcAft>
                <a:spcPts val="800"/>
              </a:spcAft>
              <a:buChar char="•"/>
            </a:pPr>
            <a:r>
              <a:rPr sz="1400" b="1">
                <a:solidFill>
                  <a:srgbClr val="0B1F3A"/>
                </a:solidFill>
                <a:latin typeface="Calibri"/>
              </a:rPr>
              <a:t>Uncertainty: </a:t>
            </a:r>
            <a:r>
              <a:rPr sz="1400" b="0">
                <a:solidFill>
                  <a:srgbClr val="0B1F3A"/>
                </a:solidFill>
                <a:latin typeface="Calibri"/>
              </a:rPr>
              <a:t>95% CIs from a patient-level bootstrap (300 resamples)</a:t>
            </a:r>
          </a:p>
          <a:p>
            <a:pPr marL="201168" indent="-201168">
              <a:spcAft>
                <a:spcPts val="800"/>
              </a:spcAft>
              <a:buChar char="•"/>
            </a:pPr>
            <a:r>
              <a:rPr sz="1400" b="1">
                <a:solidFill>
                  <a:srgbClr val="0B1F3A"/>
                </a:solidFill>
                <a:latin typeface="Calibri"/>
              </a:rPr>
              <a:t>Harder subset: </a:t>
            </a:r>
            <a:r>
              <a:rPr sz="1400" b="0">
                <a:solidFill>
                  <a:srgbClr val="0B1F3A"/>
                </a:solidFill>
                <a:latin typeface="Calibri"/>
              </a:rPr>
              <a:t>rows where glucose is not yet ≥ 180 — persistence alone cannot score well here</a:t>
            </a:r>
          </a:p>
          <a:p>
            <a:pPr marL="201168" indent="-201168">
              <a:spcAft>
                <a:spcPts val="800"/>
              </a:spcAft>
              <a:buChar char="•"/>
            </a:pPr>
            <a:r>
              <a:rPr sz="1400" b="1">
                <a:solidFill>
                  <a:srgbClr val="0B1F3A"/>
                </a:solidFill>
                <a:latin typeface="Calibri"/>
              </a:rPr>
              <a:t>Also reported: </a:t>
            </a:r>
            <a:r>
              <a:rPr sz="1400" b="0">
                <a:solidFill>
                  <a:srgbClr val="0B1F3A"/>
                </a:solidFill>
                <a:latin typeface="Calibri"/>
              </a:rPr>
              <a:t>Brier score, calibration curve, confusion matrix, prevalence, permutation importance</a:t>
            </a:r>
          </a:p>
        </p:txBody>
      </p:sp>
      <p:sp>
        <p:nvSpPr>
          <p:cNvPr id="15" name="TextBox 14"/>
          <p:cNvSpPr txBox="1"/>
          <p:nvPr/>
        </p:nvSpPr>
        <p:spPr>
          <a:xfrm>
            <a:off x="548640" y="6446520"/>
            <a:ext cx="8229600" cy="256032"/>
          </a:xfrm>
          <a:prstGeom prst="rect">
            <a:avLst/>
          </a:prstGeom>
          <a:noFill/>
        </p:spPr>
        <p:txBody>
          <a:bodyPr wrap="square" anchor="t" lIns="0" rIns="0" tIns="0" bIns="0">
            <a:spAutoFit/>
          </a:bodyPr>
          <a:lstStyle/>
          <a:p>
            <a:pPr algn="l">
              <a:lnSpc>
                <a:spcPct val="105000"/>
              </a:lnSpc>
            </a:pPr>
            <a:r>
              <a:rPr sz="1000" b="0" i="0">
                <a:solidFill>
                  <a:srgbClr val="5B6B82"/>
                </a:solidFill>
                <a:latin typeface="Calibri"/>
              </a:rPr>
              <a:t>SwasthTwin · research prototype on synthetic data · not a medical device</a:t>
            </a:r>
          </a:p>
        </p:txBody>
      </p:sp>
      <p:sp>
        <p:nvSpPr>
          <p:cNvPr id="16" name="TextBox 15"/>
          <p:cNvSpPr txBox="1"/>
          <p:nvPr/>
        </p:nvSpPr>
        <p:spPr>
          <a:xfrm>
            <a:off x="11155680" y="6446520"/>
            <a:ext cx="502920" cy="256032"/>
          </a:xfrm>
          <a:prstGeom prst="rect">
            <a:avLst/>
          </a:prstGeom>
          <a:noFill/>
        </p:spPr>
        <p:txBody>
          <a:bodyPr wrap="square" anchor="t" lIns="0" rIns="0" tIns="0" bIns="0">
            <a:spAutoFit/>
          </a:bodyPr>
          <a:lstStyle/>
          <a:p>
            <a:pPr algn="r">
              <a:lnSpc>
                <a:spcPct val="105000"/>
              </a:lnSpc>
            </a:pPr>
            <a:r>
              <a:rPr sz="1000" b="0" i="0">
                <a:solidFill>
                  <a:srgbClr val="5B6B82"/>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640080"/>
          </a:xfrm>
          <a:prstGeom prst="rect">
            <a:avLst/>
          </a:prstGeom>
          <a:noFill/>
        </p:spPr>
        <p:txBody>
          <a:bodyPr wrap="square" anchor="t" lIns="0" rIns="0" tIns="0" bIns="0">
            <a:spAutoFit/>
          </a:bodyPr>
          <a:lstStyle/>
          <a:p>
            <a:pPr algn="l">
              <a:lnSpc>
                <a:spcPct val="105000"/>
              </a:lnSpc>
            </a:pPr>
            <a:r>
              <a:rPr sz="3000" b="1" i="0">
                <a:solidFill>
                  <a:srgbClr val="0B1F3A"/>
                </a:solidFill>
                <a:latin typeface="Calibri"/>
              </a:rPr>
              <a:t>Results on held-out synthetic patients</a:t>
            </a:r>
          </a:p>
        </p:txBody>
      </p:sp>
      <p:sp>
        <p:nvSpPr>
          <p:cNvPr id="3" name="TextBox 2"/>
          <p:cNvSpPr txBox="1"/>
          <p:nvPr/>
        </p:nvSpPr>
        <p:spPr>
          <a:xfrm>
            <a:off x="548640" y="1024128"/>
            <a:ext cx="11094415" cy="411480"/>
          </a:xfrm>
          <a:prstGeom prst="rect">
            <a:avLst/>
          </a:prstGeom>
          <a:noFill/>
        </p:spPr>
        <p:txBody>
          <a:bodyPr wrap="square" anchor="t" lIns="0" rIns="0" tIns="0" bIns="0">
            <a:spAutoFit/>
          </a:bodyPr>
          <a:lstStyle/>
          <a:p>
            <a:pPr algn="l">
              <a:lnSpc>
                <a:spcPct val="105000"/>
              </a:lnSpc>
            </a:pPr>
            <a:r>
              <a:rPr sz="1500" b="0" i="0">
                <a:solidFill>
                  <a:srgbClr val="5B6B82"/>
                </a:solidFill>
                <a:latin typeface="Calibri"/>
              </a:rPr>
              <a:t>16 test patients · 10,275 forecasts · event prevalence 48% · all numbers from reports/metrics.json</a:t>
            </a:r>
          </a:p>
        </p:txBody>
      </p:sp>
      <p:graphicFrame>
        <p:nvGraphicFramePr>
          <p:cNvPr id="4" name="Chart 3"/>
          <p:cNvGraphicFramePr>
            <a:graphicFrameLocks noGrp="1"/>
          </p:cNvGraphicFramePr>
          <p:nvPr/>
        </p:nvGraphicFramePr>
        <p:xfrm>
          <a:off x="548640" y="1645920"/>
          <a:ext cx="6035040" cy="3291840"/>
        </p:xfrm>
        <a:graphic>
          <a:graphicData uri="http://schemas.openxmlformats.org/drawingml/2006/chart">
            <c:chart xmlns:c="http://schemas.openxmlformats.org/drawingml/2006/chart" r:id="rId2"/>
          </a:graphicData>
        </a:graphic>
      </p:graphicFrame>
      <p:sp>
        <p:nvSpPr>
          <p:cNvPr id="5" name="Rounded Rectangle 4"/>
          <p:cNvSpPr/>
          <p:nvPr/>
        </p:nvSpPr>
        <p:spPr>
          <a:xfrm>
            <a:off x="6858000" y="1691640"/>
            <a:ext cx="2278227" cy="1234440"/>
          </a:xfrm>
          <a:prstGeom prst="roundRect">
            <a:avLst>
              <a:gd name="adj" fmla="val 5925"/>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040880" y="1801368"/>
            <a:ext cx="1912467" cy="640080"/>
          </a:xfrm>
          <a:prstGeom prst="rect">
            <a:avLst/>
          </a:prstGeom>
          <a:noFill/>
        </p:spPr>
        <p:txBody>
          <a:bodyPr wrap="square" anchor="t" lIns="0" rIns="0" tIns="0" bIns="0">
            <a:spAutoFit/>
          </a:bodyPr>
          <a:lstStyle/>
          <a:p>
            <a:pPr algn="l">
              <a:lnSpc>
                <a:spcPct val="105000"/>
              </a:lnSpc>
            </a:pPr>
            <a:r>
              <a:rPr sz="3200" b="1" i="0">
                <a:solidFill>
                  <a:srgbClr val="0F9D8F"/>
                </a:solidFill>
                <a:latin typeface="Calibri"/>
              </a:rPr>
              <a:t>0.975</a:t>
            </a:r>
          </a:p>
        </p:txBody>
      </p:sp>
      <p:sp>
        <p:nvSpPr>
          <p:cNvPr id="7" name="TextBox 6"/>
          <p:cNvSpPr txBox="1"/>
          <p:nvPr/>
        </p:nvSpPr>
        <p:spPr>
          <a:xfrm>
            <a:off x="7040880" y="2423160"/>
            <a:ext cx="1912467" cy="457200"/>
          </a:xfrm>
          <a:prstGeom prst="rect">
            <a:avLst/>
          </a:prstGeom>
          <a:noFill/>
        </p:spPr>
        <p:txBody>
          <a:bodyPr wrap="square" anchor="t" lIns="0" rIns="0" tIns="0" bIns="0">
            <a:spAutoFit/>
          </a:bodyPr>
          <a:lstStyle/>
          <a:p>
            <a:pPr algn="l">
              <a:lnSpc>
                <a:spcPct val="105000"/>
              </a:lnSpc>
            </a:pPr>
            <a:r>
              <a:rPr sz="1200" b="0" i="0">
                <a:solidFill>
                  <a:srgbClr val="5B6B82"/>
                </a:solidFill>
                <a:latin typeface="Calibri"/>
              </a:rPr>
              <a:t>Gradient boosting PR-AUC
95% CI 0.939–0.988</a:t>
            </a:r>
          </a:p>
        </p:txBody>
      </p:sp>
      <p:sp>
        <p:nvSpPr>
          <p:cNvPr id="8" name="Rounded Rectangle 7"/>
          <p:cNvSpPr/>
          <p:nvPr/>
        </p:nvSpPr>
        <p:spPr>
          <a:xfrm>
            <a:off x="9364827" y="1691640"/>
            <a:ext cx="2278227" cy="1234440"/>
          </a:xfrm>
          <a:prstGeom prst="roundRect">
            <a:avLst>
              <a:gd name="adj" fmla="val 5925"/>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47707" y="1801368"/>
            <a:ext cx="1912467" cy="640080"/>
          </a:xfrm>
          <a:prstGeom prst="rect">
            <a:avLst/>
          </a:prstGeom>
          <a:noFill/>
        </p:spPr>
        <p:txBody>
          <a:bodyPr wrap="square" anchor="t" lIns="0" rIns="0" tIns="0" bIns="0">
            <a:spAutoFit/>
          </a:bodyPr>
          <a:lstStyle/>
          <a:p>
            <a:pPr algn="l">
              <a:lnSpc>
                <a:spcPct val="105000"/>
              </a:lnSpc>
            </a:pPr>
            <a:r>
              <a:rPr sz="3200" b="1" i="0">
                <a:solidFill>
                  <a:srgbClr val="5B6B82"/>
                </a:solidFill>
                <a:latin typeface="Calibri"/>
              </a:rPr>
              <a:t>0.880</a:t>
            </a:r>
          </a:p>
        </p:txBody>
      </p:sp>
      <p:sp>
        <p:nvSpPr>
          <p:cNvPr id="10" name="TextBox 9"/>
          <p:cNvSpPr txBox="1"/>
          <p:nvPr/>
        </p:nvSpPr>
        <p:spPr>
          <a:xfrm>
            <a:off x="9547707" y="2423160"/>
            <a:ext cx="1912467" cy="457200"/>
          </a:xfrm>
          <a:prstGeom prst="rect">
            <a:avLst/>
          </a:prstGeom>
          <a:noFill/>
        </p:spPr>
        <p:txBody>
          <a:bodyPr wrap="square" anchor="t" lIns="0" rIns="0" tIns="0" bIns="0">
            <a:spAutoFit/>
          </a:bodyPr>
          <a:lstStyle/>
          <a:p>
            <a:pPr algn="l">
              <a:lnSpc>
                <a:spcPct val="105000"/>
              </a:lnSpc>
            </a:pPr>
            <a:r>
              <a:rPr sz="1200" b="0" i="0">
                <a:solidFill>
                  <a:srgbClr val="5B6B82"/>
                </a:solidFill>
                <a:latin typeface="Calibri"/>
              </a:rPr>
              <a:t>Rule baseline PR-AUC
95% CI 0.750–0.940</a:t>
            </a:r>
          </a:p>
        </p:txBody>
      </p:sp>
      <p:sp>
        <p:nvSpPr>
          <p:cNvPr id="11" name="Rounded Rectangle 10"/>
          <p:cNvSpPr/>
          <p:nvPr/>
        </p:nvSpPr>
        <p:spPr>
          <a:xfrm>
            <a:off x="6858000" y="3108960"/>
            <a:ext cx="2278227" cy="1234440"/>
          </a:xfrm>
          <a:prstGeom prst="roundRect">
            <a:avLst>
              <a:gd name="adj" fmla="val 5925"/>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040880" y="3218688"/>
            <a:ext cx="1912467" cy="640080"/>
          </a:xfrm>
          <a:prstGeom prst="rect">
            <a:avLst/>
          </a:prstGeom>
          <a:noFill/>
        </p:spPr>
        <p:txBody>
          <a:bodyPr wrap="square" anchor="t" lIns="0" rIns="0" tIns="0" bIns="0">
            <a:spAutoFit/>
          </a:bodyPr>
          <a:lstStyle/>
          <a:p>
            <a:pPr algn="l">
              <a:lnSpc>
                <a:spcPct val="105000"/>
              </a:lnSpc>
            </a:pPr>
            <a:r>
              <a:rPr sz="3200" b="1" i="0">
                <a:solidFill>
                  <a:srgbClr val="0B1F3A"/>
                </a:solidFill>
                <a:latin typeface="Calibri"/>
              </a:rPr>
              <a:t>77%</a:t>
            </a:r>
          </a:p>
        </p:txBody>
      </p:sp>
      <p:sp>
        <p:nvSpPr>
          <p:cNvPr id="13" name="TextBox 12"/>
          <p:cNvSpPr txBox="1"/>
          <p:nvPr/>
        </p:nvSpPr>
        <p:spPr>
          <a:xfrm>
            <a:off x="7040880" y="3840480"/>
            <a:ext cx="1912467" cy="457200"/>
          </a:xfrm>
          <a:prstGeom prst="rect">
            <a:avLst/>
          </a:prstGeom>
          <a:noFill/>
        </p:spPr>
        <p:txBody>
          <a:bodyPr wrap="square" anchor="t" lIns="0" rIns="0" tIns="0" bIns="0">
            <a:spAutoFit/>
          </a:bodyPr>
          <a:lstStyle/>
          <a:p>
            <a:pPr algn="l">
              <a:lnSpc>
                <a:spcPct val="105000"/>
              </a:lnSpc>
            </a:pPr>
            <a:r>
              <a:rPr sz="1200" b="0" i="0">
                <a:solidFill>
                  <a:srgbClr val="5B6B82"/>
                </a:solidFill>
                <a:latin typeface="Calibri"/>
              </a:rPr>
              <a:t>sensitivity at threshold 0.86
(target was 80% on validation)</a:t>
            </a:r>
          </a:p>
        </p:txBody>
      </p:sp>
      <p:sp>
        <p:nvSpPr>
          <p:cNvPr id="14" name="Rounded Rectangle 13"/>
          <p:cNvSpPr/>
          <p:nvPr/>
        </p:nvSpPr>
        <p:spPr>
          <a:xfrm>
            <a:off x="9364827" y="3108960"/>
            <a:ext cx="2278227" cy="1234440"/>
          </a:xfrm>
          <a:prstGeom prst="roundRect">
            <a:avLst>
              <a:gd name="adj" fmla="val 5925"/>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47707" y="3218688"/>
            <a:ext cx="1912467" cy="640080"/>
          </a:xfrm>
          <a:prstGeom prst="rect">
            <a:avLst/>
          </a:prstGeom>
          <a:noFill/>
        </p:spPr>
        <p:txBody>
          <a:bodyPr wrap="square" anchor="t" lIns="0" rIns="0" tIns="0" bIns="0">
            <a:spAutoFit/>
          </a:bodyPr>
          <a:lstStyle/>
          <a:p>
            <a:pPr algn="l">
              <a:lnSpc>
                <a:spcPct val="105000"/>
              </a:lnSpc>
            </a:pPr>
            <a:r>
              <a:rPr sz="3200" b="1" i="0">
                <a:solidFill>
                  <a:srgbClr val="0B1F3A"/>
                </a:solidFill>
                <a:latin typeface="Calibri"/>
              </a:rPr>
              <a:t>98%</a:t>
            </a:r>
          </a:p>
        </p:txBody>
      </p:sp>
      <p:sp>
        <p:nvSpPr>
          <p:cNvPr id="16" name="TextBox 15"/>
          <p:cNvSpPr txBox="1"/>
          <p:nvPr/>
        </p:nvSpPr>
        <p:spPr>
          <a:xfrm>
            <a:off x="9547707" y="3840480"/>
            <a:ext cx="1912467" cy="457200"/>
          </a:xfrm>
          <a:prstGeom prst="rect">
            <a:avLst/>
          </a:prstGeom>
          <a:noFill/>
        </p:spPr>
        <p:txBody>
          <a:bodyPr wrap="square" anchor="t" lIns="0" rIns="0" tIns="0" bIns="0">
            <a:spAutoFit/>
          </a:bodyPr>
          <a:lstStyle/>
          <a:p>
            <a:pPr algn="l">
              <a:lnSpc>
                <a:spcPct val="105000"/>
              </a:lnSpc>
            </a:pPr>
            <a:r>
              <a:rPr sz="1200" b="0" i="0">
                <a:solidFill>
                  <a:srgbClr val="5B6B82"/>
                </a:solidFill>
                <a:latin typeface="Calibri"/>
              </a:rPr>
              <a:t>specificity · precision 98%</a:t>
            </a:r>
          </a:p>
        </p:txBody>
      </p:sp>
      <p:sp>
        <p:nvSpPr>
          <p:cNvPr id="17" name="Rounded Rectangle 16"/>
          <p:cNvSpPr/>
          <p:nvPr/>
        </p:nvSpPr>
        <p:spPr>
          <a:xfrm>
            <a:off x="548640" y="5120640"/>
            <a:ext cx="11094415" cy="1097280"/>
          </a:xfrm>
          <a:prstGeom prst="roundRect">
            <a:avLst>
              <a:gd name="adj" fmla="val 6666"/>
            </a:avLst>
          </a:prstGeom>
          <a:solidFill>
            <a:srgbClr val="FCE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77240" y="5193792"/>
            <a:ext cx="10637215" cy="1005840"/>
          </a:xfrm>
          <a:prstGeom prst="rect">
            <a:avLst/>
          </a:prstGeom>
          <a:noFill/>
        </p:spPr>
        <p:txBody>
          <a:bodyPr wrap="square" anchor="t" lIns="0" rIns="0" tIns="0" bIns="0">
            <a:spAutoFit/>
          </a:bodyPr>
          <a:lstStyle/>
          <a:p>
            <a:pPr algn="l">
              <a:lnSpc>
                <a:spcPct val="105000"/>
              </a:lnSpc>
            </a:pPr>
            <a:r>
              <a:rPr sz="1400" b="1" i="0">
                <a:solidFill>
                  <a:srgbClr val="9A5B00"/>
                </a:solidFill>
                <a:latin typeface="Calibri"/>
              </a:rPr>
              <a:t>What this does and does not show  </a:t>
            </a:r>
          </a:p>
          <a:p>
            <a:pPr algn="l">
              <a:lnSpc>
                <a:spcPct val="105000"/>
              </a:lnSpc>
            </a:pPr>
            <a:r>
              <a:rPr sz="1300" b="0" i="0">
                <a:solidFill>
                  <a:srgbClr val="0B1F3A"/>
                </a:solidFill>
                <a:latin typeface="Calibri"/>
              </a:rPr>
              <a:t>Where glucose is not yet high, PR-AUC 0.867 vs 0.472 for the rule. Temporal hold-out PR-AUC 0.976. Test sensitivity 77% fell short of the 80% validation target. Scores are high partly because the generator is learnable (e.g. regular meal times make clock time predictive). This is agreement with our simulator, NOT clinical evidence.</a:t>
            </a:r>
          </a:p>
        </p:txBody>
      </p:sp>
      <p:sp>
        <p:nvSpPr>
          <p:cNvPr id="19" name="TextBox 18"/>
          <p:cNvSpPr txBox="1"/>
          <p:nvPr/>
        </p:nvSpPr>
        <p:spPr>
          <a:xfrm>
            <a:off x="548640" y="6446520"/>
            <a:ext cx="8229600" cy="256032"/>
          </a:xfrm>
          <a:prstGeom prst="rect">
            <a:avLst/>
          </a:prstGeom>
          <a:noFill/>
        </p:spPr>
        <p:txBody>
          <a:bodyPr wrap="square" anchor="t" lIns="0" rIns="0" tIns="0" bIns="0">
            <a:spAutoFit/>
          </a:bodyPr>
          <a:lstStyle/>
          <a:p>
            <a:pPr algn="l">
              <a:lnSpc>
                <a:spcPct val="105000"/>
              </a:lnSpc>
            </a:pPr>
            <a:r>
              <a:rPr sz="1000" b="0" i="0">
                <a:solidFill>
                  <a:srgbClr val="5B6B82"/>
                </a:solidFill>
                <a:latin typeface="Calibri"/>
              </a:rPr>
              <a:t>SwasthTwin · research prototype on synthetic data · not a medical device</a:t>
            </a:r>
          </a:p>
        </p:txBody>
      </p:sp>
      <p:sp>
        <p:nvSpPr>
          <p:cNvPr id="20" name="TextBox 19"/>
          <p:cNvSpPr txBox="1"/>
          <p:nvPr/>
        </p:nvSpPr>
        <p:spPr>
          <a:xfrm>
            <a:off x="11155680" y="6446520"/>
            <a:ext cx="502920" cy="256032"/>
          </a:xfrm>
          <a:prstGeom prst="rect">
            <a:avLst/>
          </a:prstGeom>
          <a:noFill/>
        </p:spPr>
        <p:txBody>
          <a:bodyPr wrap="square" anchor="t" lIns="0" rIns="0" tIns="0" bIns="0">
            <a:spAutoFit/>
          </a:bodyPr>
          <a:lstStyle/>
          <a:p>
            <a:pPr algn="r">
              <a:lnSpc>
                <a:spcPct val="105000"/>
              </a:lnSpc>
            </a:pPr>
            <a:r>
              <a:rPr sz="1000" b="0" i="0">
                <a:solidFill>
                  <a:srgbClr val="5B6B82"/>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640080"/>
          </a:xfrm>
          <a:prstGeom prst="rect">
            <a:avLst/>
          </a:prstGeom>
          <a:noFill/>
        </p:spPr>
        <p:txBody>
          <a:bodyPr wrap="square" anchor="t" lIns="0" rIns="0" tIns="0" bIns="0">
            <a:spAutoFit/>
          </a:bodyPr>
          <a:lstStyle/>
          <a:p>
            <a:pPr algn="l">
              <a:lnSpc>
                <a:spcPct val="105000"/>
              </a:lnSpc>
            </a:pPr>
            <a:r>
              <a:rPr sz="3000" b="1" i="0">
                <a:solidFill>
                  <a:srgbClr val="0B1F3A"/>
                </a:solidFill>
                <a:latin typeface="Calibri"/>
              </a:rPr>
              <a:t>Live prototype: one synthetic patient, step by step</a:t>
            </a:r>
          </a:p>
        </p:txBody>
      </p:sp>
      <p:sp>
        <p:nvSpPr>
          <p:cNvPr id="3" name="TextBox 2"/>
          <p:cNvSpPr txBox="1"/>
          <p:nvPr/>
        </p:nvSpPr>
        <p:spPr>
          <a:xfrm>
            <a:off x="548640" y="1024128"/>
            <a:ext cx="11094415" cy="411480"/>
          </a:xfrm>
          <a:prstGeom prst="rect">
            <a:avLst/>
          </a:prstGeom>
          <a:noFill/>
        </p:spPr>
        <p:txBody>
          <a:bodyPr wrap="square" anchor="t" lIns="0" rIns="0" tIns="0" bIns="0">
            <a:spAutoFit/>
          </a:bodyPr>
          <a:lstStyle/>
          <a:p>
            <a:pPr algn="l">
              <a:lnSpc>
                <a:spcPct val="105000"/>
              </a:lnSpc>
            </a:pPr>
            <a:r>
              <a:rPr sz="1500" b="0" i="0">
                <a:solidFill>
                  <a:srgbClr val="5B6B82"/>
                </a:solidFill>
                <a:latin typeface="Calibri"/>
              </a:rPr>
              <a:t>Held-out patient SYN-0002 · type2 diabetes · HbA1c 7.3% · values below produced by the saved model at build time</a:t>
            </a:r>
          </a:p>
        </p:txBody>
      </p:sp>
      <p:pic>
        <p:nvPicPr>
          <p:cNvPr id="4" name="Picture 3" descr="slide_timeline.png"/>
          <p:cNvPicPr>
            <a:picLocks noChangeAspect="1"/>
          </p:cNvPicPr>
          <p:nvPr/>
        </p:nvPicPr>
        <p:blipFill>
          <a:blip r:embed="rId2"/>
          <a:stretch>
            <a:fillRect/>
          </a:stretch>
        </p:blipFill>
        <p:spPr>
          <a:xfrm>
            <a:off x="548640" y="1691640"/>
            <a:ext cx="7406640" cy="2525964"/>
          </a:xfrm>
          <a:prstGeom prst="rect">
            <a:avLst/>
          </a:prstGeom>
        </p:spPr>
      </p:pic>
      <p:pic>
        <p:nvPicPr>
          <p:cNvPr id="5" name="Picture 4" descr="slide_whatif.png"/>
          <p:cNvPicPr>
            <a:picLocks noChangeAspect="1"/>
          </p:cNvPicPr>
          <p:nvPr/>
        </p:nvPicPr>
        <p:blipFill>
          <a:blip r:embed="rId3"/>
          <a:stretch>
            <a:fillRect/>
          </a:stretch>
        </p:blipFill>
        <p:spPr>
          <a:xfrm>
            <a:off x="8229600" y="1600200"/>
            <a:ext cx="3259355" cy="2880360"/>
          </a:xfrm>
          <a:prstGeom prst="rect">
            <a:avLst/>
          </a:prstGeom>
        </p:spPr>
      </p:pic>
      <p:sp>
        <p:nvSpPr>
          <p:cNvPr id="6" name="TextBox 5"/>
          <p:cNvSpPr txBox="1"/>
          <p:nvPr/>
        </p:nvSpPr>
        <p:spPr>
          <a:xfrm>
            <a:off x="548640" y="4663440"/>
            <a:ext cx="11094415" cy="1645920"/>
          </a:xfrm>
          <a:prstGeom prst="rect">
            <a:avLst/>
          </a:prstGeom>
          <a:noFill/>
        </p:spPr>
        <p:txBody>
          <a:bodyPr wrap="square" lIns="0" rIns="0" tIns="0" bIns="0">
            <a:spAutoFit/>
          </a:bodyPr>
          <a:lstStyle/>
          <a:p>
            <a:pPr marL="201168" indent="-201168">
              <a:spcAft>
                <a:spcPts val="600"/>
              </a:spcAft>
              <a:buChar char="•"/>
            </a:pPr>
            <a:r>
              <a:rPr sz="1400" b="0">
                <a:solidFill>
                  <a:srgbClr val="0B1F3A"/>
                </a:solidFill>
                <a:latin typeface="Calibri"/>
              </a:rPr>
              <a:t>Twin replayed 12 half-hour updates; its risk estimate ranged 2%–100% as the stream changed — every value a fresh model call.</a:t>
            </a:r>
          </a:p>
          <a:p>
            <a:pPr marL="201168" indent="-201168">
              <a:spcAft>
                <a:spcPts val="600"/>
              </a:spcAft>
              <a:buChar char="•"/>
            </a:pPr>
            <a:r>
              <a:rPr sz="1400" b="0">
                <a:solidFill>
                  <a:srgbClr val="0B1F3A"/>
                </a:solidFill>
                <a:latin typeface="Calibri"/>
              </a:rPr>
              <a:t>At Wed 13:00: latest CGM 126 mg/dL, P(event in 2 h) 95% (Elevated). The explanation shows time of day as a top driver — a known limitation of the synthetic routine.</a:t>
            </a:r>
          </a:p>
          <a:p>
            <a:pPr marL="201168" indent="-201168">
              <a:spcAft>
                <a:spcPts val="600"/>
              </a:spcAft>
              <a:buChar char="•"/>
            </a:pPr>
            <a:r>
              <a:rPr sz="1400" b="0">
                <a:solidFill>
                  <a:srgbClr val="0B1F3A"/>
                </a:solidFill>
                <a:latin typeface="Calibri"/>
              </a:rPr>
              <a:t>What-if (model sensitivity, not advice): +30-min walk → 62%; logging 80 g carbs now → 95%.</a:t>
            </a:r>
          </a:p>
        </p:txBody>
      </p:sp>
      <p:sp>
        <p:nvSpPr>
          <p:cNvPr id="7" name="TextBox 6"/>
          <p:cNvSpPr txBox="1"/>
          <p:nvPr/>
        </p:nvSpPr>
        <p:spPr>
          <a:xfrm>
            <a:off x="548640" y="6446520"/>
            <a:ext cx="8229600" cy="256032"/>
          </a:xfrm>
          <a:prstGeom prst="rect">
            <a:avLst/>
          </a:prstGeom>
          <a:noFill/>
        </p:spPr>
        <p:txBody>
          <a:bodyPr wrap="square" anchor="t" lIns="0" rIns="0" tIns="0" bIns="0">
            <a:spAutoFit/>
          </a:bodyPr>
          <a:lstStyle/>
          <a:p>
            <a:pPr algn="l">
              <a:lnSpc>
                <a:spcPct val="105000"/>
              </a:lnSpc>
            </a:pPr>
            <a:r>
              <a:rPr sz="1000" b="0" i="0">
                <a:solidFill>
                  <a:srgbClr val="5B6B82"/>
                </a:solidFill>
                <a:latin typeface="Calibri"/>
              </a:rPr>
              <a:t>SwasthTwin · research prototype on synthetic data · not a medical device</a:t>
            </a:r>
          </a:p>
        </p:txBody>
      </p:sp>
      <p:sp>
        <p:nvSpPr>
          <p:cNvPr id="8" name="TextBox 7"/>
          <p:cNvSpPr txBox="1"/>
          <p:nvPr/>
        </p:nvSpPr>
        <p:spPr>
          <a:xfrm>
            <a:off x="11155680" y="6446520"/>
            <a:ext cx="502920" cy="256032"/>
          </a:xfrm>
          <a:prstGeom prst="rect">
            <a:avLst/>
          </a:prstGeom>
          <a:noFill/>
        </p:spPr>
        <p:txBody>
          <a:bodyPr wrap="square" anchor="t" lIns="0" rIns="0" tIns="0" bIns="0">
            <a:spAutoFit/>
          </a:bodyPr>
          <a:lstStyle/>
          <a:p>
            <a:pPr algn="r">
              <a:lnSpc>
                <a:spcPct val="105000"/>
              </a:lnSpc>
            </a:pPr>
            <a:r>
              <a:rPr sz="1000" b="0" i="0">
                <a:solidFill>
                  <a:srgbClr val="5B6B82"/>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548640" y="384048"/>
            <a:ext cx="11094415" cy="640080"/>
          </a:xfrm>
          <a:prstGeom prst="rect">
            <a:avLst/>
          </a:prstGeom>
          <a:noFill/>
        </p:spPr>
        <p:txBody>
          <a:bodyPr wrap="square" anchor="t" lIns="0" rIns="0" tIns="0" bIns="0">
            <a:spAutoFit/>
          </a:bodyPr>
          <a:lstStyle/>
          <a:p>
            <a:pPr algn="l">
              <a:lnSpc>
                <a:spcPct val="105000"/>
              </a:lnSpc>
            </a:pPr>
            <a:r>
              <a:rPr sz="3000" b="1" i="0">
                <a:solidFill>
                  <a:srgbClr val="FFFFFF"/>
                </a:solidFill>
                <a:latin typeface="Calibri"/>
              </a:rPr>
              <a:t>Potential value, limitations and the road to validation</a:t>
            </a:r>
          </a:p>
        </p:txBody>
      </p:sp>
      <p:sp>
        <p:nvSpPr>
          <p:cNvPr id="3" name="TextBox 2"/>
          <p:cNvSpPr txBox="1"/>
          <p:nvPr/>
        </p:nvSpPr>
        <p:spPr>
          <a:xfrm>
            <a:off x="548640" y="1188720"/>
            <a:ext cx="3657600" cy="365760"/>
          </a:xfrm>
          <a:prstGeom prst="rect">
            <a:avLst/>
          </a:prstGeom>
          <a:noFill/>
        </p:spPr>
        <p:txBody>
          <a:bodyPr wrap="square" anchor="t" lIns="0" rIns="0" tIns="0" bIns="0">
            <a:spAutoFit/>
          </a:bodyPr>
          <a:lstStyle/>
          <a:p>
            <a:pPr algn="l">
              <a:lnSpc>
                <a:spcPct val="105000"/>
              </a:lnSpc>
            </a:pPr>
            <a:r>
              <a:rPr sz="1700" b="1" i="0">
                <a:solidFill>
                  <a:srgbClr val="E3F4F2"/>
                </a:solidFill>
                <a:latin typeface="Calibri"/>
              </a:rPr>
              <a:t>Potential value (unproven)</a:t>
            </a:r>
          </a:p>
        </p:txBody>
      </p:sp>
      <p:sp>
        <p:nvSpPr>
          <p:cNvPr id="4" name="TextBox 3"/>
          <p:cNvSpPr txBox="1"/>
          <p:nvPr/>
        </p:nvSpPr>
        <p:spPr>
          <a:xfrm>
            <a:off x="548640" y="1645920"/>
            <a:ext cx="3566160" cy="2743200"/>
          </a:xfrm>
          <a:prstGeom prst="rect">
            <a:avLst/>
          </a:prstGeom>
          <a:noFill/>
        </p:spPr>
        <p:txBody>
          <a:bodyPr wrap="square" lIns="0" rIns="0" tIns="0" bIns="0">
            <a:spAutoFit/>
          </a:bodyPr>
          <a:lstStyle/>
          <a:p>
            <a:pPr marL="201168" indent="-201168">
              <a:spcAft>
                <a:spcPts val="800"/>
              </a:spcAft>
              <a:buChar char="•"/>
            </a:pPr>
            <a:r>
              <a:rPr sz="1400" b="0">
                <a:solidFill>
                  <a:srgbClr val="FFFFFF"/>
                </a:solidFill>
                <a:latin typeface="Calibri"/>
              </a:rPr>
              <a:t>Earlier, explained flag for clinician review</a:t>
            </a:r>
          </a:p>
          <a:p>
            <a:pPr marL="201168" indent="-201168">
              <a:spcAft>
                <a:spcPts val="800"/>
              </a:spcAft>
              <a:buChar char="•"/>
            </a:pPr>
            <a:r>
              <a:rPr sz="1400" b="0">
                <a:solidFill>
                  <a:srgbClr val="FFFFFF"/>
                </a:solidFill>
                <a:latin typeface="Calibri"/>
              </a:rPr>
              <a:t>One place to read EHR + wearable context</a:t>
            </a:r>
          </a:p>
          <a:p>
            <a:pPr marL="201168" indent="-201168">
              <a:spcAft>
                <a:spcPts val="800"/>
              </a:spcAft>
              <a:buChar char="•"/>
            </a:pPr>
            <a:r>
              <a:rPr sz="1400" b="0">
                <a:solidFill>
                  <a:srgbClr val="FFFFFF"/>
                </a:solidFill>
                <a:latin typeface="Calibri"/>
              </a:rPr>
              <a:t>Data-quality warnings instead of silent guesses</a:t>
            </a:r>
          </a:p>
          <a:p>
            <a:pPr marL="201168" indent="-201168">
              <a:spcAft>
                <a:spcPts val="800"/>
              </a:spcAft>
              <a:buChar char="•"/>
            </a:pPr>
            <a:r>
              <a:rPr sz="1400" b="0">
                <a:solidFill>
                  <a:srgbClr val="FFFFFF"/>
                </a:solidFill>
                <a:latin typeface="Calibri"/>
              </a:rPr>
              <a:t>Reusable twin pattern for other forecasts</a:t>
            </a:r>
          </a:p>
        </p:txBody>
      </p:sp>
      <p:sp>
        <p:nvSpPr>
          <p:cNvPr id="5" name="TextBox 4"/>
          <p:cNvSpPr txBox="1"/>
          <p:nvPr/>
        </p:nvSpPr>
        <p:spPr>
          <a:xfrm>
            <a:off x="4434840" y="1188720"/>
            <a:ext cx="3657600" cy="365760"/>
          </a:xfrm>
          <a:prstGeom prst="rect">
            <a:avLst/>
          </a:prstGeom>
          <a:noFill/>
        </p:spPr>
        <p:txBody>
          <a:bodyPr wrap="square" anchor="t" lIns="0" rIns="0" tIns="0" bIns="0">
            <a:spAutoFit/>
          </a:bodyPr>
          <a:lstStyle/>
          <a:p>
            <a:pPr algn="l">
              <a:lnSpc>
                <a:spcPct val="105000"/>
              </a:lnSpc>
            </a:pPr>
            <a:r>
              <a:rPr sz="1700" b="1" i="0">
                <a:solidFill>
                  <a:srgbClr val="FCEFD9"/>
                </a:solidFill>
                <a:latin typeface="Calibri"/>
              </a:rPr>
              <a:t>Key limitations</a:t>
            </a:r>
          </a:p>
        </p:txBody>
      </p:sp>
      <p:sp>
        <p:nvSpPr>
          <p:cNvPr id="6" name="TextBox 5"/>
          <p:cNvSpPr txBox="1"/>
          <p:nvPr/>
        </p:nvSpPr>
        <p:spPr>
          <a:xfrm>
            <a:off x="4434840" y="1645920"/>
            <a:ext cx="3566160" cy="3291840"/>
          </a:xfrm>
          <a:prstGeom prst="rect">
            <a:avLst/>
          </a:prstGeom>
          <a:noFill/>
        </p:spPr>
        <p:txBody>
          <a:bodyPr wrap="square" lIns="0" rIns="0" tIns="0" bIns="0">
            <a:spAutoFit/>
          </a:bodyPr>
          <a:lstStyle/>
          <a:p>
            <a:pPr marL="201168" indent="-201168">
              <a:spcAft>
                <a:spcPts val="800"/>
              </a:spcAft>
              <a:buChar char="•"/>
            </a:pPr>
            <a:r>
              <a:rPr sz="1400" b="0">
                <a:solidFill>
                  <a:srgbClr val="FFFFFF"/>
                </a:solidFill>
                <a:latin typeface="Calibri"/>
              </a:rPr>
              <a:t>Synthetic, hand-tuned simulator; results do not transfer</a:t>
            </a:r>
          </a:p>
          <a:p>
            <a:pPr marL="201168" indent="-201168">
              <a:spcAft>
                <a:spcPts val="800"/>
              </a:spcAft>
              <a:buChar char="•"/>
            </a:pPr>
            <a:r>
              <a:rPr sz="1400" b="0">
                <a:solidFill>
                  <a:srgbClr val="FFFFFF"/>
                </a:solidFill>
                <a:latin typeface="Calibri"/>
              </a:rPr>
              <a:t>180 mg/dL / 2 h rule is a prototype target</a:t>
            </a:r>
          </a:p>
          <a:p>
            <a:pPr marL="201168" indent="-201168">
              <a:spcAft>
                <a:spcPts val="800"/>
              </a:spcAft>
              <a:buChar char="•"/>
            </a:pPr>
            <a:r>
              <a:rPr sz="1400" b="0">
                <a:solidFill>
                  <a:srgbClr val="FFFFFF"/>
                </a:solidFill>
                <a:latin typeface="Calibri"/>
              </a:rPr>
              <a:t>Clock time over-predictive due to regular synthetic meals</a:t>
            </a:r>
          </a:p>
          <a:p>
            <a:pPr marL="201168" indent="-201168">
              <a:spcAft>
                <a:spcPts val="800"/>
              </a:spcAft>
              <a:buChar char="•"/>
            </a:pPr>
            <a:r>
              <a:rPr sz="1400" b="0">
                <a:solidFill>
                  <a:srgbClr val="FFFFFF"/>
                </a:solidFill>
                <a:latin typeface="Calibri"/>
              </a:rPr>
              <a:t>Risk bands uncalibrated for clinical use</a:t>
            </a:r>
          </a:p>
          <a:p>
            <a:pPr marL="201168" indent="-201168">
              <a:spcAft>
                <a:spcPts val="800"/>
              </a:spcAft>
              <a:buChar char="•"/>
            </a:pPr>
            <a:r>
              <a:rPr sz="1400" b="0">
                <a:solidFill>
                  <a:srgbClr val="FFFFFF"/>
                </a:solidFill>
                <a:latin typeface="Calibri"/>
              </a:rPr>
              <a:t>No device or EHR integration; no hypoglycemia target</a:t>
            </a:r>
          </a:p>
        </p:txBody>
      </p:sp>
      <p:sp>
        <p:nvSpPr>
          <p:cNvPr id="7" name="TextBox 6"/>
          <p:cNvSpPr txBox="1"/>
          <p:nvPr/>
        </p:nvSpPr>
        <p:spPr>
          <a:xfrm>
            <a:off x="8321040" y="1188720"/>
            <a:ext cx="3474720" cy="365760"/>
          </a:xfrm>
          <a:prstGeom prst="rect">
            <a:avLst/>
          </a:prstGeom>
          <a:noFill/>
        </p:spPr>
        <p:txBody>
          <a:bodyPr wrap="square" anchor="t" lIns="0" rIns="0" tIns="0" bIns="0">
            <a:spAutoFit/>
          </a:bodyPr>
          <a:lstStyle/>
          <a:p>
            <a:pPr algn="l">
              <a:lnSpc>
                <a:spcPct val="105000"/>
              </a:lnSpc>
            </a:pPr>
            <a:r>
              <a:rPr sz="1700" b="1" i="0">
                <a:solidFill>
                  <a:srgbClr val="E3F4F2"/>
                </a:solidFill>
                <a:latin typeface="Calibri"/>
              </a:rPr>
              <a:t>Roadmap</a:t>
            </a:r>
          </a:p>
        </p:txBody>
      </p:sp>
      <p:sp>
        <p:nvSpPr>
          <p:cNvPr id="8" name="Oval 7"/>
          <p:cNvSpPr/>
          <p:nvPr/>
        </p:nvSpPr>
        <p:spPr>
          <a:xfrm>
            <a:off x="8321040" y="1691640"/>
            <a:ext cx="384048" cy="384048"/>
          </a:xfrm>
          <a:prstGeom prst="ellipse">
            <a:avLst/>
          </a:prstGeom>
          <a:solidFill>
            <a:srgbClr val="0F9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a:t>
            </a:r>
          </a:p>
        </p:txBody>
      </p:sp>
      <p:sp>
        <p:nvSpPr>
          <p:cNvPr id="9" name="TextBox 8"/>
          <p:cNvSpPr txBox="1"/>
          <p:nvPr/>
        </p:nvSpPr>
        <p:spPr>
          <a:xfrm>
            <a:off x="8823960" y="1673352"/>
            <a:ext cx="2926080" cy="731520"/>
          </a:xfrm>
          <a:prstGeom prst="rect">
            <a:avLst/>
          </a:prstGeom>
          <a:noFill/>
        </p:spPr>
        <p:txBody>
          <a:bodyPr wrap="square" anchor="t" lIns="0" rIns="0" tIns="0" bIns="0">
            <a:spAutoFit/>
          </a:bodyPr>
          <a:lstStyle/>
          <a:p>
            <a:pPr algn="l">
              <a:lnSpc>
                <a:spcPct val="105000"/>
              </a:lnSpc>
            </a:pPr>
            <a:r>
              <a:rPr sz="1300" b="0" i="0">
                <a:solidFill>
                  <a:srgbClr val="FFFFFF"/>
                </a:solidFill>
                <a:latin typeface="Calibri"/>
              </a:rPr>
              <a:t>Public de-identified CGM data (licence checked) — retrain, re-test</a:t>
            </a:r>
          </a:p>
        </p:txBody>
      </p:sp>
      <p:sp>
        <p:nvSpPr>
          <p:cNvPr id="10" name="Oval 9"/>
          <p:cNvSpPr/>
          <p:nvPr/>
        </p:nvSpPr>
        <p:spPr>
          <a:xfrm>
            <a:off x="8321040" y="2468880"/>
            <a:ext cx="384048" cy="384048"/>
          </a:xfrm>
          <a:prstGeom prst="ellipse">
            <a:avLst/>
          </a:prstGeom>
          <a:solidFill>
            <a:srgbClr val="0F9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2</a:t>
            </a:r>
          </a:p>
        </p:txBody>
      </p:sp>
      <p:sp>
        <p:nvSpPr>
          <p:cNvPr id="11" name="TextBox 10"/>
          <p:cNvSpPr txBox="1"/>
          <p:nvPr/>
        </p:nvSpPr>
        <p:spPr>
          <a:xfrm>
            <a:off x="8823960" y="2450592"/>
            <a:ext cx="2926080" cy="731520"/>
          </a:xfrm>
          <a:prstGeom prst="rect">
            <a:avLst/>
          </a:prstGeom>
          <a:noFill/>
        </p:spPr>
        <p:txBody>
          <a:bodyPr wrap="square" anchor="t" lIns="0" rIns="0" tIns="0" bIns="0">
            <a:spAutoFit/>
          </a:bodyPr>
          <a:lstStyle/>
          <a:p>
            <a:pPr algn="l">
              <a:lnSpc>
                <a:spcPct val="105000"/>
              </a:lnSpc>
            </a:pPr>
            <a:r>
              <a:rPr sz="1300" b="0" i="0">
                <a:solidFill>
                  <a:srgbClr val="FFFFFF"/>
                </a:solidFill>
                <a:latin typeface="Calibri"/>
              </a:rPr>
              <a:t>Clinicians co-define target, threshold and alert burden</a:t>
            </a:r>
          </a:p>
        </p:txBody>
      </p:sp>
      <p:sp>
        <p:nvSpPr>
          <p:cNvPr id="12" name="Oval 11"/>
          <p:cNvSpPr/>
          <p:nvPr/>
        </p:nvSpPr>
        <p:spPr>
          <a:xfrm>
            <a:off x="8321040" y="3246120"/>
            <a:ext cx="384048" cy="384048"/>
          </a:xfrm>
          <a:prstGeom prst="ellipse">
            <a:avLst/>
          </a:prstGeom>
          <a:solidFill>
            <a:srgbClr val="0F9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3</a:t>
            </a:r>
          </a:p>
        </p:txBody>
      </p:sp>
      <p:sp>
        <p:nvSpPr>
          <p:cNvPr id="13" name="TextBox 12"/>
          <p:cNvSpPr txBox="1"/>
          <p:nvPr/>
        </p:nvSpPr>
        <p:spPr>
          <a:xfrm>
            <a:off x="8823960" y="3227832"/>
            <a:ext cx="2926080" cy="731520"/>
          </a:xfrm>
          <a:prstGeom prst="rect">
            <a:avLst/>
          </a:prstGeom>
          <a:noFill/>
        </p:spPr>
        <p:txBody>
          <a:bodyPr wrap="square" anchor="t" lIns="0" rIns="0" tIns="0" bIns="0">
            <a:spAutoFit/>
          </a:bodyPr>
          <a:lstStyle/>
          <a:p>
            <a:pPr algn="l">
              <a:lnSpc>
                <a:spcPct val="105000"/>
              </a:lnSpc>
            </a:pPr>
            <a:r>
              <a:rPr sz="1300" b="0" i="0">
                <a:solidFill>
                  <a:srgbClr val="FFFFFF"/>
                </a:solidFill>
                <a:latin typeface="Calibri"/>
              </a:rPr>
              <a:t>Retrospective study with ethics approval</a:t>
            </a:r>
          </a:p>
        </p:txBody>
      </p:sp>
      <p:sp>
        <p:nvSpPr>
          <p:cNvPr id="14" name="Oval 13"/>
          <p:cNvSpPr/>
          <p:nvPr/>
        </p:nvSpPr>
        <p:spPr>
          <a:xfrm>
            <a:off x="8321040" y="4023360"/>
            <a:ext cx="384048" cy="384048"/>
          </a:xfrm>
          <a:prstGeom prst="ellipse">
            <a:avLst/>
          </a:prstGeom>
          <a:solidFill>
            <a:srgbClr val="0F9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4</a:t>
            </a:r>
          </a:p>
        </p:txBody>
      </p:sp>
      <p:sp>
        <p:nvSpPr>
          <p:cNvPr id="15" name="TextBox 14"/>
          <p:cNvSpPr txBox="1"/>
          <p:nvPr/>
        </p:nvSpPr>
        <p:spPr>
          <a:xfrm>
            <a:off x="8823960" y="4005072"/>
            <a:ext cx="2926080" cy="731520"/>
          </a:xfrm>
          <a:prstGeom prst="rect">
            <a:avLst/>
          </a:prstGeom>
          <a:noFill/>
        </p:spPr>
        <p:txBody>
          <a:bodyPr wrap="square" anchor="t" lIns="0" rIns="0" tIns="0" bIns="0">
            <a:spAutoFit/>
          </a:bodyPr>
          <a:lstStyle/>
          <a:p>
            <a:pPr algn="l">
              <a:lnSpc>
                <a:spcPct val="105000"/>
              </a:lnSpc>
            </a:pPr>
            <a:r>
              <a:rPr sz="1300" b="0" i="0">
                <a:solidFill>
                  <a:srgbClr val="FFFFFF"/>
                </a:solidFill>
                <a:latin typeface="Calibri"/>
              </a:rPr>
              <a:t>Silent prospective pilot; calibration and safety review</a:t>
            </a:r>
          </a:p>
        </p:txBody>
      </p:sp>
      <p:sp>
        <p:nvSpPr>
          <p:cNvPr id="16" name="Oval 15"/>
          <p:cNvSpPr/>
          <p:nvPr/>
        </p:nvSpPr>
        <p:spPr>
          <a:xfrm>
            <a:off x="8321040" y="4800600"/>
            <a:ext cx="384048" cy="384048"/>
          </a:xfrm>
          <a:prstGeom prst="ellipse">
            <a:avLst/>
          </a:prstGeom>
          <a:solidFill>
            <a:srgbClr val="0F9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5</a:t>
            </a:r>
          </a:p>
        </p:txBody>
      </p:sp>
      <p:sp>
        <p:nvSpPr>
          <p:cNvPr id="17" name="TextBox 16"/>
          <p:cNvSpPr txBox="1"/>
          <p:nvPr/>
        </p:nvSpPr>
        <p:spPr>
          <a:xfrm>
            <a:off x="8823960" y="4782312"/>
            <a:ext cx="2926080" cy="731520"/>
          </a:xfrm>
          <a:prstGeom prst="rect">
            <a:avLst/>
          </a:prstGeom>
          <a:noFill/>
        </p:spPr>
        <p:txBody>
          <a:bodyPr wrap="square" anchor="t" lIns="0" rIns="0" tIns="0" bIns="0">
            <a:spAutoFit/>
          </a:bodyPr>
          <a:lstStyle/>
          <a:p>
            <a:pPr algn="l">
              <a:lnSpc>
                <a:spcPct val="105000"/>
              </a:lnSpc>
            </a:pPr>
            <a:r>
              <a:rPr sz="1300" b="0" i="0">
                <a:solidFill>
                  <a:srgbClr val="FFFFFF"/>
                </a:solidFill>
                <a:latin typeface="Calibri"/>
              </a:rPr>
              <a:t>Regulatory pathway before any clinical use</a:t>
            </a:r>
          </a:p>
        </p:txBody>
      </p:sp>
      <p:sp>
        <p:nvSpPr>
          <p:cNvPr id="18" name="Rounded Rectangle 17"/>
          <p:cNvSpPr/>
          <p:nvPr/>
        </p:nvSpPr>
        <p:spPr>
          <a:xfrm>
            <a:off x="548640" y="5532120"/>
            <a:ext cx="11094415" cy="685800"/>
          </a:xfrm>
          <a:prstGeom prst="roundRect">
            <a:avLst>
              <a:gd name="adj" fmla="val 13333"/>
            </a:avLst>
          </a:prstGeom>
          <a:solidFill>
            <a:srgbClr val="14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7240" y="5623560"/>
            <a:ext cx="10637215" cy="548640"/>
          </a:xfrm>
          <a:prstGeom prst="rect">
            <a:avLst/>
          </a:prstGeom>
          <a:noFill/>
        </p:spPr>
        <p:txBody>
          <a:bodyPr wrap="square" anchor="t" lIns="0" rIns="0" tIns="0" bIns="0">
            <a:spAutoFit/>
          </a:bodyPr>
          <a:lstStyle/>
          <a:p>
            <a:pPr algn="l">
              <a:lnSpc>
                <a:spcPct val="105000"/>
              </a:lnSpc>
            </a:pPr>
            <a:r>
              <a:rPr sz="1400" b="1" i="0">
                <a:solidFill>
                  <a:srgbClr val="FFFFFF"/>
                </a:solidFill>
                <a:latin typeface="Calibri"/>
              </a:rPr>
              <a:t>Ask: feedback from clinicians on the target definition and alert threshold, and access routes to consented real-world CGM + EHR data for validation.</a:t>
            </a:r>
          </a:p>
        </p:txBody>
      </p:sp>
      <p:sp>
        <p:nvSpPr>
          <p:cNvPr id="20" name="TextBox 19"/>
          <p:cNvSpPr txBox="1"/>
          <p:nvPr/>
        </p:nvSpPr>
        <p:spPr>
          <a:xfrm>
            <a:off x="548640" y="6446520"/>
            <a:ext cx="8229600" cy="256032"/>
          </a:xfrm>
          <a:prstGeom prst="rect">
            <a:avLst/>
          </a:prstGeom>
          <a:noFill/>
        </p:spPr>
        <p:txBody>
          <a:bodyPr wrap="square" anchor="t" lIns="0" rIns="0" tIns="0" bIns="0">
            <a:spAutoFit/>
          </a:bodyPr>
          <a:lstStyle/>
          <a:p>
            <a:pPr algn="l">
              <a:lnSpc>
                <a:spcPct val="105000"/>
              </a:lnSpc>
            </a:pPr>
            <a:r>
              <a:rPr sz="1000" b="0" i="0">
                <a:solidFill>
                  <a:srgbClr val="E3F4F2"/>
                </a:solidFill>
                <a:latin typeface="Calibri"/>
              </a:rPr>
              <a:t>SwasthTwin · research prototype on synthetic data · not a medical device</a:t>
            </a:r>
          </a:p>
        </p:txBody>
      </p:sp>
      <p:sp>
        <p:nvSpPr>
          <p:cNvPr id="21" name="TextBox 20"/>
          <p:cNvSpPr txBox="1"/>
          <p:nvPr/>
        </p:nvSpPr>
        <p:spPr>
          <a:xfrm>
            <a:off x="11155680" y="6446520"/>
            <a:ext cx="502920" cy="256032"/>
          </a:xfrm>
          <a:prstGeom prst="rect">
            <a:avLst/>
          </a:prstGeom>
          <a:noFill/>
        </p:spPr>
        <p:txBody>
          <a:bodyPr wrap="square" anchor="t" lIns="0" rIns="0" tIns="0" bIns="0">
            <a:spAutoFit/>
          </a:bodyPr>
          <a:lstStyle/>
          <a:p>
            <a:pPr algn="r">
              <a:lnSpc>
                <a:spcPct val="105000"/>
              </a:lnSpc>
            </a:pPr>
            <a:r>
              <a:rPr sz="1000" b="0" i="0">
                <a:solidFill>
                  <a:srgbClr val="E3F4F2"/>
                </a:solidFill>
                <a:latin typeface="Calibr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