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lane runs offline: generate linked synthetic EHR and sensor data, validate, build leakage-safe features and future-window labels, split by patient, train candidates and pick by validation PR-AUC, save the pipeline and evaluate on held-out patients. Bottom lane is the live twin: the same feature function rebuilds the patient's state from observations up to the twin clock, the saved pipeline scores it, and the dashboard shows risk, explanation and warnings. Advancing the clock, entering a reading or running a what-if feeds back into the twin. No hospital system or wearable is integrated.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0972800" cy="457200"/>
          </a:xfrm>
          <a:prstGeom prst="rect">
            <a:avLst/>
          </a:prstGeom>
          <a:noFill/>
        </p:spPr>
        <p:txBody>
          <a:bodyPr wrap="square" anchor="t" lIns="0" rIns="0" tIns="0" bIns="0">
            <a:spAutoFit/>
          </a:bodyPr>
          <a:lstStyle/>
          <a:p>
            <a:pPr algn="l">
              <a:lnSpc>
                <a:spcPct val="105000"/>
              </a:lnSpc>
            </a:pPr>
            <a:r>
              <a:rPr sz="2600" b="1" i="0">
                <a:solidFill>
                  <a:srgbClr val="0B1F3A"/>
                </a:solidFill>
                <a:latin typeface="Calibri"/>
              </a:rPr>
              <a:t>SwasthTwin — system architecture</a:t>
            </a:r>
          </a:p>
        </p:txBody>
      </p:sp>
      <p:sp>
        <p:nvSpPr>
          <p:cNvPr id="3" name="TextBox 2"/>
          <p:cNvSpPr txBox="1"/>
          <p:nvPr/>
        </p:nvSpPr>
        <p:spPr>
          <a:xfrm>
            <a:off x="411480" y="749808"/>
            <a:ext cx="11338560" cy="320040"/>
          </a:xfrm>
          <a:prstGeom prst="rect">
            <a:avLst/>
          </a:prstGeom>
          <a:noFill/>
        </p:spPr>
        <p:txBody>
          <a:bodyPr wrap="square" anchor="t" lIns="0" rIns="0" tIns="0" bIns="0">
            <a:spAutoFit/>
          </a:bodyPr>
          <a:lstStyle/>
          <a:p>
            <a:pPr algn="l">
              <a:lnSpc>
                <a:spcPct val="105000"/>
              </a:lnSpc>
            </a:pPr>
            <a:r>
              <a:rPr sz="1200" b="0" i="0">
                <a:solidFill>
                  <a:srgbClr val="5B6B82"/>
                </a:solidFill>
                <a:latin typeface="Calibri"/>
              </a:rPr>
              <a:t>Offline path builds and evaluates the model; runtime path keeps a per-patient Digital Twin and refreshes its 120-minute risk forecast as observations arrive.</a:t>
            </a:r>
          </a:p>
        </p:txBody>
      </p:sp>
      <p:sp>
        <p:nvSpPr>
          <p:cNvPr id="4" name="Rounded Rectangle 3"/>
          <p:cNvSpPr/>
          <p:nvPr/>
        </p:nvSpPr>
        <p:spPr>
          <a:xfrm>
            <a:off x="274320" y="1207008"/>
            <a:ext cx="11643055" cy="2331720"/>
          </a:xfrm>
          <a:prstGeom prst="roundRect">
            <a:avLst>
              <a:gd name="adj" fmla="val 4705"/>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11480" y="1280160"/>
            <a:ext cx="8229600" cy="274320"/>
          </a:xfrm>
          <a:prstGeom prst="rect">
            <a:avLst/>
          </a:prstGeom>
          <a:noFill/>
        </p:spPr>
        <p:txBody>
          <a:bodyPr wrap="square" anchor="t" lIns="0" rIns="0" tIns="0" bIns="0">
            <a:spAutoFit/>
          </a:bodyPr>
          <a:lstStyle/>
          <a:p>
            <a:pPr algn="l">
              <a:lnSpc>
                <a:spcPct val="105000"/>
              </a:lnSpc>
            </a:pPr>
            <a:r>
              <a:rPr sz="1300" b="1" i="0">
                <a:solidFill>
                  <a:srgbClr val="0B1F3A"/>
                </a:solidFill>
                <a:latin typeface="Calibri"/>
              </a:rPr>
              <a:t>OFFLINE · TRAINING-TIME</a:t>
            </a:r>
            <a:r>
              <a:rPr sz="1100" b="0" i="0">
                <a:solidFill>
                  <a:srgbClr val="5B6B82"/>
                </a:solidFill>
                <a:latin typeface="Calibri"/>
              </a:rPr>
              <a:t>   run by `make data → make train → make evaluate`</a:t>
            </a:r>
          </a:p>
        </p:txBody>
      </p:sp>
      <p:sp>
        <p:nvSpPr>
          <p:cNvPr id="6" name="Rounded Rectangle 5"/>
          <p:cNvSpPr/>
          <p:nvPr/>
        </p:nvSpPr>
        <p:spPr>
          <a:xfrm>
            <a:off x="411480" y="1645920"/>
            <a:ext cx="1620469" cy="818387"/>
          </a:xfrm>
          <a:prstGeom prst="roundRect">
            <a:avLst>
              <a:gd name="adj" fmla="val 8938"/>
            </a:avLst>
          </a:prstGeom>
          <a:solidFill>
            <a:srgbClr val="EFE9F7"/>
          </a:solidFill>
          <a:ln w="15875">
            <a:solidFill>
              <a:srgbClr val="5E469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1719072"/>
            <a:ext cx="1437589" cy="672083"/>
          </a:xfrm>
          <a:prstGeom prst="rect">
            <a:avLst/>
          </a:prstGeom>
          <a:noFill/>
        </p:spPr>
        <p:txBody>
          <a:bodyPr wrap="square" anchor="t" lIns="0" rIns="0" tIns="0" bIns="0">
            <a:spAutoFit/>
          </a:bodyPr>
          <a:lstStyle/>
          <a:p>
            <a:pPr algn="l">
              <a:lnSpc>
                <a:spcPct val="100000"/>
              </a:lnSpc>
            </a:pPr>
            <a:r>
              <a:rPr sz="1200" b="1" i="0">
                <a:solidFill>
                  <a:srgbClr val="5E4691"/>
                </a:solidFill>
                <a:latin typeface="Calibri"/>
              </a:rPr>
              <a:t>Synthetic EHR</a:t>
            </a:r>
          </a:p>
          <a:p>
            <a:pPr algn="l">
              <a:lnSpc>
                <a:spcPct val="100000"/>
              </a:lnSpc>
            </a:pPr>
            <a:r>
              <a:rPr sz="1050" b="0" i="0">
                <a:solidFill>
                  <a:srgbClr val="0B1F3A"/>
                </a:solidFill>
                <a:latin typeface="Calibri"/>
              </a:rPr>
              <a:t>80 fictional patients; HbA1c, labs, meds</a:t>
            </a:r>
          </a:p>
        </p:txBody>
      </p:sp>
      <p:sp>
        <p:nvSpPr>
          <p:cNvPr id="8" name="Rounded Rectangle 7"/>
          <p:cNvSpPr/>
          <p:nvPr/>
        </p:nvSpPr>
        <p:spPr>
          <a:xfrm>
            <a:off x="411480" y="2592324"/>
            <a:ext cx="1620469" cy="818387"/>
          </a:xfrm>
          <a:prstGeom prst="roundRect">
            <a:avLst>
              <a:gd name="adj" fmla="val 8938"/>
            </a:avLst>
          </a:prstGeom>
          <a:solidFill>
            <a:srgbClr val="E5EEF9"/>
          </a:solidFill>
          <a:ln w="15875">
            <a:solidFill>
              <a:srgbClr val="24497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02920" y="2665476"/>
            <a:ext cx="1437589" cy="672083"/>
          </a:xfrm>
          <a:prstGeom prst="rect">
            <a:avLst/>
          </a:prstGeom>
          <a:noFill/>
        </p:spPr>
        <p:txBody>
          <a:bodyPr wrap="square" anchor="t" lIns="0" rIns="0" tIns="0" bIns="0">
            <a:spAutoFit/>
          </a:bodyPr>
          <a:lstStyle/>
          <a:p>
            <a:pPr algn="l">
              <a:lnSpc>
                <a:spcPct val="100000"/>
              </a:lnSpc>
            </a:pPr>
            <a:r>
              <a:rPr sz="1200" b="1" i="0">
                <a:solidFill>
                  <a:srgbClr val="24497D"/>
                </a:solidFill>
                <a:latin typeface="Calibri"/>
              </a:rPr>
              <a:t>Synthetic sensors</a:t>
            </a:r>
          </a:p>
          <a:p>
            <a:pPr algn="l">
              <a:lnSpc>
                <a:spcPct val="100000"/>
              </a:lnSpc>
            </a:pPr>
            <a:r>
              <a:rPr sz="1050" b="0" i="0">
                <a:solidFill>
                  <a:srgbClr val="0B1F3A"/>
                </a:solidFill>
                <a:latin typeface="Calibri"/>
              </a:rPr>
              <a:t>5-min CGM, HR, HRV, steps; sleep; meals</a:t>
            </a:r>
          </a:p>
        </p:txBody>
      </p:sp>
      <p:sp>
        <p:nvSpPr>
          <p:cNvPr id="10" name="Rounded Rectangle 9"/>
          <p:cNvSpPr/>
          <p:nvPr/>
        </p:nvSpPr>
        <p:spPr>
          <a:xfrm>
            <a:off x="2361133" y="1645920"/>
            <a:ext cx="1620469" cy="1764791"/>
          </a:xfrm>
          <a:prstGeom prst="roundRect">
            <a:avLst>
              <a:gd name="adj" fmla="val 4514"/>
            </a:avLst>
          </a:prstGeom>
          <a:solidFill>
            <a:srgbClr val="FFFFFF"/>
          </a:solidFill>
          <a:ln w="1587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452573" y="1719072"/>
            <a:ext cx="1437589" cy="1618487"/>
          </a:xfrm>
          <a:prstGeom prst="rect">
            <a:avLst/>
          </a:prstGeom>
          <a:noFill/>
        </p:spPr>
        <p:txBody>
          <a:bodyPr wrap="square" anchor="t" lIns="0" rIns="0" tIns="0" bIns="0">
            <a:spAutoFit/>
          </a:bodyPr>
          <a:lstStyle/>
          <a:p>
            <a:pPr algn="l">
              <a:lnSpc>
                <a:spcPct val="100000"/>
              </a:lnSpc>
            </a:pPr>
            <a:r>
              <a:rPr sz="1200" b="1" i="0">
                <a:solidFill>
                  <a:srgbClr val="0B1F3A"/>
                </a:solidFill>
                <a:latin typeface="Calibri"/>
              </a:rPr>
              <a:t>Validate &amp; align</a:t>
            </a:r>
          </a:p>
          <a:p>
            <a:pPr algn="l">
              <a:lnSpc>
                <a:spcPct val="100000"/>
              </a:lnSpc>
            </a:pPr>
            <a:r>
              <a:rPr sz="1050" b="0" i="0">
                <a:solidFill>
                  <a:srgbClr val="0B1F3A"/>
                </a:solidFill>
                <a:latin typeface="Calibri"/>
              </a:rPr>
              <a:t>Schema, units, ranges, IDs linked; regular 5-min grid; impossible values → missing</a:t>
            </a:r>
          </a:p>
        </p:txBody>
      </p:sp>
      <p:sp>
        <p:nvSpPr>
          <p:cNvPr id="12" name="Rounded Rectangle 11"/>
          <p:cNvSpPr/>
          <p:nvPr/>
        </p:nvSpPr>
        <p:spPr>
          <a:xfrm>
            <a:off x="4310786" y="1645920"/>
            <a:ext cx="1620469" cy="1764791"/>
          </a:xfrm>
          <a:prstGeom prst="roundRect">
            <a:avLst>
              <a:gd name="adj" fmla="val 4514"/>
            </a:avLst>
          </a:prstGeom>
          <a:solidFill>
            <a:srgbClr val="FFFFFF"/>
          </a:solidFill>
          <a:ln w="1587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02226" y="1719072"/>
            <a:ext cx="1437589" cy="1618487"/>
          </a:xfrm>
          <a:prstGeom prst="rect">
            <a:avLst/>
          </a:prstGeom>
          <a:noFill/>
        </p:spPr>
        <p:txBody>
          <a:bodyPr wrap="square" anchor="t" lIns="0" rIns="0" tIns="0" bIns="0">
            <a:spAutoFit/>
          </a:bodyPr>
          <a:lstStyle/>
          <a:p>
            <a:pPr algn="l">
              <a:lnSpc>
                <a:spcPct val="100000"/>
              </a:lnSpc>
            </a:pPr>
            <a:r>
              <a:rPr sz="1200" b="1" i="0">
                <a:solidFill>
                  <a:srgbClr val="0B1F3A"/>
                </a:solidFill>
                <a:latin typeface="Calibri"/>
              </a:rPr>
              <a:t>Features + labels</a:t>
            </a:r>
          </a:p>
          <a:p>
            <a:pPr algn="l">
              <a:lnSpc>
                <a:spcPct val="100000"/>
              </a:lnSpc>
            </a:pPr>
            <a:r>
              <a:rPr sz="1050" b="0" i="0">
                <a:solidFill>
                  <a:srgbClr val="0B1F3A"/>
                </a:solidFill>
                <a:latin typeface="Calibri"/>
              </a:rPr>
              <a:t>Trailing windows only (≤ t). Label = any future CGM ≥180 mg/dL in (t, t+120 min]</a:t>
            </a:r>
          </a:p>
        </p:txBody>
      </p:sp>
      <p:sp>
        <p:nvSpPr>
          <p:cNvPr id="14" name="Rounded Rectangle 13"/>
          <p:cNvSpPr/>
          <p:nvPr/>
        </p:nvSpPr>
        <p:spPr>
          <a:xfrm>
            <a:off x="6260439" y="1645920"/>
            <a:ext cx="1620469" cy="1764791"/>
          </a:xfrm>
          <a:prstGeom prst="roundRect">
            <a:avLst>
              <a:gd name="adj" fmla="val 4514"/>
            </a:avLst>
          </a:prstGeom>
          <a:solidFill>
            <a:srgbClr val="FFFFFF"/>
          </a:solidFill>
          <a:ln w="1587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51879" y="1719072"/>
            <a:ext cx="1437589" cy="1618487"/>
          </a:xfrm>
          <a:prstGeom prst="rect">
            <a:avLst/>
          </a:prstGeom>
          <a:noFill/>
        </p:spPr>
        <p:txBody>
          <a:bodyPr wrap="square" anchor="t" lIns="0" rIns="0" tIns="0" bIns="0">
            <a:spAutoFit/>
          </a:bodyPr>
          <a:lstStyle/>
          <a:p>
            <a:pPr algn="l">
              <a:lnSpc>
                <a:spcPct val="100000"/>
              </a:lnSpc>
            </a:pPr>
            <a:r>
              <a:rPr sz="1200" b="1" i="0">
                <a:solidFill>
                  <a:srgbClr val="0B1F3A"/>
                </a:solidFill>
                <a:latin typeface="Calibri"/>
              </a:rPr>
              <a:t>Patient-level split</a:t>
            </a:r>
          </a:p>
          <a:p>
            <a:pPr algn="l">
              <a:lnSpc>
                <a:spcPct val="100000"/>
              </a:lnSpc>
            </a:pPr>
            <a:r>
              <a:rPr sz="1050" b="0" i="0">
                <a:solidFill>
                  <a:srgbClr val="0B1F3A"/>
                </a:solidFill>
                <a:latin typeface="Calibri"/>
              </a:rPr>
              <a:t>Train 60% / val 20% / test 20% of PATIENTS. Plus temporal hold-out (days 10+)</a:t>
            </a:r>
          </a:p>
        </p:txBody>
      </p:sp>
      <p:sp>
        <p:nvSpPr>
          <p:cNvPr id="16" name="Rounded Rectangle 15"/>
          <p:cNvSpPr/>
          <p:nvPr/>
        </p:nvSpPr>
        <p:spPr>
          <a:xfrm>
            <a:off x="8210092" y="1645920"/>
            <a:ext cx="1620469" cy="1764791"/>
          </a:xfrm>
          <a:prstGeom prst="roundRect">
            <a:avLst>
              <a:gd name="adj" fmla="val 4514"/>
            </a:avLst>
          </a:prstGeom>
          <a:solidFill>
            <a:srgbClr val="E3F4F2"/>
          </a:solidFill>
          <a:ln w="15875">
            <a:solidFill>
              <a:srgbClr val="0F9D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01532" y="1719072"/>
            <a:ext cx="1437589" cy="1618487"/>
          </a:xfrm>
          <a:prstGeom prst="rect">
            <a:avLst/>
          </a:prstGeom>
          <a:noFill/>
        </p:spPr>
        <p:txBody>
          <a:bodyPr wrap="square" anchor="t" lIns="0" rIns="0" tIns="0" bIns="0">
            <a:spAutoFit/>
          </a:bodyPr>
          <a:lstStyle/>
          <a:p>
            <a:pPr algn="l">
              <a:lnSpc>
                <a:spcPct val="100000"/>
              </a:lnSpc>
            </a:pPr>
            <a:r>
              <a:rPr sz="1200" b="1" i="0">
                <a:solidFill>
                  <a:srgbClr val="0F9D8F"/>
                </a:solidFill>
                <a:latin typeface="Calibri"/>
              </a:rPr>
              <a:t>Train &amp; select</a:t>
            </a:r>
          </a:p>
          <a:p>
            <a:pPr algn="l">
              <a:lnSpc>
                <a:spcPct val="100000"/>
              </a:lnSpc>
            </a:pPr>
            <a:r>
              <a:rPr sz="1050" b="0" i="0">
                <a:solidFill>
                  <a:srgbClr val="0B1F3A"/>
                </a:solidFill>
                <a:latin typeface="Calibri"/>
              </a:rPr>
              <a:t>Rule baseline, logistic reg., random forest, gradient boosting → pick by val PR-AUC; set threshold on val</a:t>
            </a:r>
          </a:p>
        </p:txBody>
      </p:sp>
      <p:sp>
        <p:nvSpPr>
          <p:cNvPr id="18" name="Rounded Rectangle 17"/>
          <p:cNvSpPr/>
          <p:nvPr/>
        </p:nvSpPr>
        <p:spPr>
          <a:xfrm>
            <a:off x="10159745" y="1645920"/>
            <a:ext cx="1620469" cy="818387"/>
          </a:xfrm>
          <a:prstGeom prst="roundRect">
            <a:avLst>
              <a:gd name="adj" fmla="val 8938"/>
            </a:avLst>
          </a:prstGeom>
          <a:solidFill>
            <a:srgbClr val="FFFFFF"/>
          </a:solidFill>
          <a:ln w="1587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251185" y="1719072"/>
            <a:ext cx="1437589" cy="672083"/>
          </a:xfrm>
          <a:prstGeom prst="rect">
            <a:avLst/>
          </a:prstGeom>
          <a:noFill/>
        </p:spPr>
        <p:txBody>
          <a:bodyPr wrap="square" anchor="t" lIns="0" rIns="0" tIns="0" bIns="0">
            <a:spAutoFit/>
          </a:bodyPr>
          <a:lstStyle/>
          <a:p>
            <a:pPr algn="l">
              <a:lnSpc>
                <a:spcPct val="100000"/>
              </a:lnSpc>
            </a:pPr>
            <a:r>
              <a:rPr sz="1200" b="1" i="0">
                <a:solidFill>
                  <a:srgbClr val="0B1F3A"/>
                </a:solidFill>
                <a:latin typeface="Calibri"/>
              </a:rPr>
              <a:t>Evaluation &amp; reports</a:t>
            </a:r>
          </a:p>
          <a:p>
            <a:pPr algn="l">
              <a:lnSpc>
                <a:spcPct val="100000"/>
              </a:lnSpc>
            </a:pPr>
            <a:r>
              <a:rPr sz="1050" b="0" i="0">
                <a:solidFill>
                  <a:srgbClr val="0B1F3A"/>
                </a:solidFill>
                <a:latin typeface="Calibri"/>
              </a:rPr>
              <a:t>Test metrics, bootstrap CIs, ablation → reports/</a:t>
            </a:r>
          </a:p>
        </p:txBody>
      </p:sp>
      <p:sp>
        <p:nvSpPr>
          <p:cNvPr id="20" name="Rounded Rectangle 19"/>
          <p:cNvSpPr/>
          <p:nvPr/>
        </p:nvSpPr>
        <p:spPr>
          <a:xfrm>
            <a:off x="10159745" y="2592324"/>
            <a:ext cx="1620469" cy="818387"/>
          </a:xfrm>
          <a:prstGeom prst="roundRect">
            <a:avLst>
              <a:gd name="adj" fmla="val 8938"/>
            </a:avLst>
          </a:prstGeom>
          <a:solidFill>
            <a:srgbClr val="FFFFFF"/>
          </a:solidFill>
          <a:ln w="15875">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251185" y="2665476"/>
            <a:ext cx="1437589" cy="672083"/>
          </a:xfrm>
          <a:prstGeom prst="rect">
            <a:avLst/>
          </a:prstGeom>
          <a:noFill/>
        </p:spPr>
        <p:txBody>
          <a:bodyPr wrap="square" anchor="t" lIns="0" rIns="0" tIns="0" bIns="0">
            <a:spAutoFit/>
          </a:bodyPr>
          <a:lstStyle/>
          <a:p>
            <a:pPr algn="l">
              <a:lnSpc>
                <a:spcPct val="100000"/>
              </a:lnSpc>
            </a:pPr>
            <a:r>
              <a:rPr sz="1200" b="1" i="0">
                <a:solidFill>
                  <a:srgbClr val="0B1F3A"/>
                </a:solidFill>
                <a:latin typeface="Calibri"/>
              </a:rPr>
              <a:t>Model artifacts</a:t>
            </a:r>
          </a:p>
          <a:p>
            <a:pPr algn="l">
              <a:lnSpc>
                <a:spcPct val="100000"/>
              </a:lnSpc>
            </a:pPr>
            <a:r>
              <a:rPr sz="1050" b="0" i="0">
                <a:solidFill>
                  <a:srgbClr val="0B1F3A"/>
                </a:solidFill>
                <a:latin typeface="Calibri"/>
              </a:rPr>
              <a:t>model_pipeline.joblib + metadata</a:t>
            </a:r>
          </a:p>
        </p:txBody>
      </p:sp>
      <p:cxnSp>
        <p:nvCxnSpPr>
          <p:cNvPr id="22" name="Connector 21"/>
          <p:cNvCxnSpPr/>
          <p:nvPr/>
        </p:nvCxnSpPr>
        <p:spPr>
          <a:xfrm>
            <a:off x="2059381" y="2528315"/>
            <a:ext cx="274320" cy="0"/>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009034" y="2528315"/>
            <a:ext cx="274320" cy="0"/>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58687" y="2528315"/>
            <a:ext cx="274320" cy="0"/>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908340" y="2528315"/>
            <a:ext cx="274320" cy="0"/>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9857993" y="2055114"/>
            <a:ext cx="274321" cy="244601"/>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857993" y="2756915"/>
            <a:ext cx="274321" cy="244603"/>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74320" y="3730752"/>
            <a:ext cx="11643055" cy="2633472"/>
          </a:xfrm>
          <a:prstGeom prst="roundRect">
            <a:avLst>
              <a:gd name="adj" fmla="val 4166"/>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11480" y="3803904"/>
            <a:ext cx="8229600" cy="274320"/>
          </a:xfrm>
          <a:prstGeom prst="rect">
            <a:avLst/>
          </a:prstGeom>
          <a:noFill/>
        </p:spPr>
        <p:txBody>
          <a:bodyPr wrap="square" anchor="t" lIns="0" rIns="0" tIns="0" bIns="0">
            <a:spAutoFit/>
          </a:bodyPr>
          <a:lstStyle/>
          <a:p>
            <a:pPr algn="l">
              <a:lnSpc>
                <a:spcPct val="105000"/>
              </a:lnSpc>
            </a:pPr>
            <a:r>
              <a:rPr sz="1300" b="1" i="0">
                <a:solidFill>
                  <a:srgbClr val="0B1F3A"/>
                </a:solidFill>
                <a:latin typeface="Calibri"/>
              </a:rPr>
              <a:t>RUNTIME · DIGITAL TWIN INFERENCE</a:t>
            </a:r>
            <a:r>
              <a:rPr sz="1100" b="0" i="0">
                <a:solidFill>
                  <a:srgbClr val="5B6B82"/>
                </a:solidFill>
                <a:latin typeface="Calibri"/>
              </a:rPr>
              <a:t>   Streamlit dashboard, `make app`</a:t>
            </a:r>
          </a:p>
        </p:txBody>
      </p:sp>
      <p:sp>
        <p:nvSpPr>
          <p:cNvPr id="30" name="Rounded Rectangle 29"/>
          <p:cNvSpPr/>
          <p:nvPr/>
        </p:nvSpPr>
        <p:spPr>
          <a:xfrm>
            <a:off x="411480" y="4169664"/>
            <a:ext cx="1620469" cy="795527"/>
          </a:xfrm>
          <a:prstGeom prst="roundRect">
            <a:avLst>
              <a:gd name="adj" fmla="val 9195"/>
            </a:avLst>
          </a:prstGeom>
          <a:solidFill>
            <a:srgbClr val="EFE9F7"/>
          </a:solidFill>
          <a:ln w="15875">
            <a:solidFill>
              <a:srgbClr val="5E469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02920" y="4242816"/>
            <a:ext cx="1437589" cy="649223"/>
          </a:xfrm>
          <a:prstGeom prst="rect">
            <a:avLst/>
          </a:prstGeom>
          <a:noFill/>
        </p:spPr>
        <p:txBody>
          <a:bodyPr wrap="square" anchor="t" lIns="0" rIns="0" tIns="0" bIns="0">
            <a:spAutoFit/>
          </a:bodyPr>
          <a:lstStyle/>
          <a:p>
            <a:pPr algn="l">
              <a:lnSpc>
                <a:spcPct val="100000"/>
              </a:lnSpc>
            </a:pPr>
            <a:r>
              <a:rPr sz="1200" b="1" i="0">
                <a:solidFill>
                  <a:srgbClr val="5E4691"/>
                </a:solidFill>
                <a:latin typeface="Calibri"/>
              </a:rPr>
              <a:t>Patient EHR profile</a:t>
            </a:r>
          </a:p>
          <a:p>
            <a:pPr algn="l">
              <a:lnSpc>
                <a:spcPct val="100000"/>
              </a:lnSpc>
            </a:pPr>
            <a:r>
              <a:rPr sz="1050" b="0" i="0">
                <a:solidFill>
                  <a:srgbClr val="0B1F3A"/>
                </a:solidFill>
                <a:latin typeface="Calibri"/>
              </a:rPr>
              <a:t>Historical, static context</a:t>
            </a:r>
          </a:p>
        </p:txBody>
      </p:sp>
      <p:sp>
        <p:nvSpPr>
          <p:cNvPr id="32" name="Rounded Rectangle 31"/>
          <p:cNvSpPr/>
          <p:nvPr/>
        </p:nvSpPr>
        <p:spPr>
          <a:xfrm>
            <a:off x="411480" y="5093208"/>
            <a:ext cx="1620469" cy="795527"/>
          </a:xfrm>
          <a:prstGeom prst="roundRect">
            <a:avLst>
              <a:gd name="adj" fmla="val 9195"/>
            </a:avLst>
          </a:prstGeom>
          <a:solidFill>
            <a:srgbClr val="E5EEF9"/>
          </a:solidFill>
          <a:ln w="15875">
            <a:solidFill>
              <a:srgbClr val="24497D"/>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02920" y="5166360"/>
            <a:ext cx="1437589" cy="649223"/>
          </a:xfrm>
          <a:prstGeom prst="rect">
            <a:avLst/>
          </a:prstGeom>
          <a:noFill/>
        </p:spPr>
        <p:txBody>
          <a:bodyPr wrap="square" anchor="t" lIns="0" rIns="0" tIns="0" bIns="0">
            <a:spAutoFit/>
          </a:bodyPr>
          <a:lstStyle/>
          <a:p>
            <a:pPr algn="l">
              <a:lnSpc>
                <a:spcPct val="100000"/>
              </a:lnSpc>
            </a:pPr>
            <a:r>
              <a:rPr sz="1200" b="1" i="0">
                <a:solidFill>
                  <a:srgbClr val="24497D"/>
                </a:solidFill>
                <a:latin typeface="Calibri"/>
              </a:rPr>
              <a:t>Sensor feed (replay)</a:t>
            </a:r>
          </a:p>
          <a:p>
            <a:pPr algn="l">
              <a:lnSpc>
                <a:spcPct val="100000"/>
              </a:lnSpc>
            </a:pPr>
            <a:r>
              <a:rPr sz="1050" b="0" i="0">
                <a:solidFill>
                  <a:srgbClr val="0B1F3A"/>
                </a:solidFill>
                <a:latin typeface="Calibri"/>
              </a:rPr>
              <a:t>Synthetic stream replay or manual entry — no live device yet</a:t>
            </a:r>
          </a:p>
        </p:txBody>
      </p:sp>
      <p:sp>
        <p:nvSpPr>
          <p:cNvPr id="34" name="Rounded Rectangle 33"/>
          <p:cNvSpPr/>
          <p:nvPr/>
        </p:nvSpPr>
        <p:spPr>
          <a:xfrm>
            <a:off x="2361133" y="4169664"/>
            <a:ext cx="1620469" cy="1719072"/>
          </a:xfrm>
          <a:prstGeom prst="roundRect">
            <a:avLst>
              <a:gd name="adj" fmla="val 4514"/>
            </a:avLst>
          </a:prstGeom>
          <a:solidFill>
            <a:srgbClr val="FFFFFF"/>
          </a:solidFill>
          <a:ln w="1587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2452573" y="4242816"/>
            <a:ext cx="1437589" cy="1572768"/>
          </a:xfrm>
          <a:prstGeom prst="rect">
            <a:avLst/>
          </a:prstGeom>
          <a:noFill/>
        </p:spPr>
        <p:txBody>
          <a:bodyPr wrap="square" anchor="t" lIns="0" rIns="0" tIns="0" bIns="0">
            <a:spAutoFit/>
          </a:bodyPr>
          <a:lstStyle/>
          <a:p>
            <a:pPr algn="l">
              <a:lnSpc>
                <a:spcPct val="100000"/>
              </a:lnSpc>
            </a:pPr>
            <a:r>
              <a:rPr sz="1200" b="1" i="0">
                <a:solidFill>
                  <a:srgbClr val="0B1F3A"/>
                </a:solidFill>
                <a:latin typeface="Calibri"/>
              </a:rPr>
              <a:t>Validate &amp; align</a:t>
            </a:r>
          </a:p>
          <a:p>
            <a:pPr algn="l">
              <a:lnSpc>
                <a:spcPct val="100000"/>
              </a:lnSpc>
            </a:pPr>
            <a:r>
              <a:rPr sz="1050" b="0" i="0">
                <a:solidFill>
                  <a:srgbClr val="0B1F3A"/>
                </a:solidFill>
                <a:latin typeface="Calibri"/>
              </a:rPr>
              <a:t>Same 5-min grid + range checks; staleness and coverage flags</a:t>
            </a:r>
          </a:p>
        </p:txBody>
      </p:sp>
      <p:sp>
        <p:nvSpPr>
          <p:cNvPr id="36" name="Rounded Rectangle 35"/>
          <p:cNvSpPr/>
          <p:nvPr/>
        </p:nvSpPr>
        <p:spPr>
          <a:xfrm>
            <a:off x="4310786" y="4169664"/>
            <a:ext cx="1620469" cy="1719072"/>
          </a:xfrm>
          <a:prstGeom prst="roundRect">
            <a:avLst>
              <a:gd name="adj" fmla="val 4514"/>
            </a:avLst>
          </a:prstGeom>
          <a:solidFill>
            <a:srgbClr val="FFFFFF"/>
          </a:solidFill>
          <a:ln w="15875">
            <a:solidFill>
              <a:srgbClr val="C9D1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402226" y="4242816"/>
            <a:ext cx="1437589" cy="1572768"/>
          </a:xfrm>
          <a:prstGeom prst="rect">
            <a:avLst/>
          </a:prstGeom>
          <a:noFill/>
        </p:spPr>
        <p:txBody>
          <a:bodyPr wrap="square" anchor="t" lIns="0" rIns="0" tIns="0" bIns="0">
            <a:spAutoFit/>
          </a:bodyPr>
          <a:lstStyle/>
          <a:p>
            <a:pPr algn="l">
              <a:lnSpc>
                <a:spcPct val="100000"/>
              </a:lnSpc>
            </a:pPr>
            <a:r>
              <a:rPr sz="1200" b="1" i="0">
                <a:solidFill>
                  <a:srgbClr val="0B1F3A"/>
                </a:solidFill>
                <a:latin typeface="Calibri"/>
              </a:rPr>
              <a:t>Rolling features</a:t>
            </a:r>
          </a:p>
          <a:p>
            <a:pPr algn="l">
              <a:lnSpc>
                <a:spcPct val="100000"/>
              </a:lnSpc>
            </a:pPr>
            <a:r>
              <a:rPr sz="1050" b="0" i="0">
                <a:solidFill>
                  <a:srgbClr val="0B1F3A"/>
                </a:solidFill>
                <a:latin typeface="Calibri"/>
              </a:rPr>
              <a:t>SAME function as training → no train/serve skew</a:t>
            </a:r>
          </a:p>
        </p:txBody>
      </p:sp>
      <p:sp>
        <p:nvSpPr>
          <p:cNvPr id="38" name="Rounded Rectangle 37"/>
          <p:cNvSpPr/>
          <p:nvPr/>
        </p:nvSpPr>
        <p:spPr>
          <a:xfrm>
            <a:off x="6260439" y="4169664"/>
            <a:ext cx="1620469" cy="1719072"/>
          </a:xfrm>
          <a:prstGeom prst="roundRect">
            <a:avLst>
              <a:gd name="adj" fmla="val 4514"/>
            </a:avLst>
          </a:prstGeom>
          <a:solidFill>
            <a:srgbClr val="0B1F3A"/>
          </a:solidFill>
          <a:ln w="15875">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1879" y="4242816"/>
            <a:ext cx="1437589" cy="1572768"/>
          </a:xfrm>
          <a:prstGeom prst="rect">
            <a:avLst/>
          </a:prstGeom>
          <a:noFill/>
        </p:spPr>
        <p:txBody>
          <a:bodyPr wrap="square" anchor="t" lIns="0" rIns="0" tIns="0" bIns="0">
            <a:spAutoFit/>
          </a:bodyPr>
          <a:lstStyle/>
          <a:p>
            <a:pPr algn="l">
              <a:lnSpc>
                <a:spcPct val="100000"/>
              </a:lnSpc>
            </a:pPr>
            <a:r>
              <a:rPr sz="1200" b="1" i="0">
                <a:solidFill>
                  <a:srgbClr val="FFFFFF"/>
                </a:solidFill>
                <a:latin typeface="Calibri"/>
              </a:rPr>
              <a:t>Patient Digital Twin state</a:t>
            </a:r>
          </a:p>
          <a:p>
            <a:pPr algn="l">
              <a:lnSpc>
                <a:spcPct val="100000"/>
              </a:lnSpc>
            </a:pPr>
            <a:r>
              <a:rPr sz="1050" b="0" i="0">
                <a:solidFill>
                  <a:srgbClr val="FFFFFF"/>
                </a:solidFill>
                <a:latin typeface="Calibri"/>
              </a:rPr>
              <a:t>EHR + observations ≤ clock + features + latest forecast + forecast history</a:t>
            </a:r>
          </a:p>
        </p:txBody>
      </p:sp>
      <p:sp>
        <p:nvSpPr>
          <p:cNvPr id="40" name="Rounded Rectangle 39"/>
          <p:cNvSpPr/>
          <p:nvPr/>
        </p:nvSpPr>
        <p:spPr>
          <a:xfrm>
            <a:off x="8210092" y="4169664"/>
            <a:ext cx="1620469" cy="1719072"/>
          </a:xfrm>
          <a:prstGeom prst="roundRect">
            <a:avLst>
              <a:gd name="adj" fmla="val 4514"/>
            </a:avLst>
          </a:prstGeom>
          <a:solidFill>
            <a:srgbClr val="E3F4F2"/>
          </a:solidFill>
          <a:ln w="15875">
            <a:solidFill>
              <a:srgbClr val="0F9D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301532" y="4242816"/>
            <a:ext cx="1437589" cy="1572768"/>
          </a:xfrm>
          <a:prstGeom prst="rect">
            <a:avLst/>
          </a:prstGeom>
          <a:noFill/>
        </p:spPr>
        <p:txBody>
          <a:bodyPr wrap="square" anchor="t" lIns="0" rIns="0" tIns="0" bIns="0">
            <a:spAutoFit/>
          </a:bodyPr>
          <a:lstStyle/>
          <a:p>
            <a:pPr algn="l">
              <a:lnSpc>
                <a:spcPct val="100000"/>
              </a:lnSpc>
            </a:pPr>
            <a:r>
              <a:rPr sz="1200" b="1" i="0">
                <a:solidFill>
                  <a:srgbClr val="0F9D8F"/>
                </a:solidFill>
                <a:latin typeface="Calibri"/>
              </a:rPr>
              <a:t>Trained pipeline</a:t>
            </a:r>
          </a:p>
          <a:p>
            <a:pPr algn="l">
              <a:lnSpc>
                <a:spcPct val="100000"/>
              </a:lnSpc>
            </a:pPr>
            <a:r>
              <a:rPr sz="1050" b="0" i="0">
                <a:solidFill>
                  <a:srgbClr val="0B1F3A"/>
                </a:solidFill>
                <a:latin typeface="Calibri"/>
              </a:rPr>
              <a:t>Loaded artifact scores P(event in next 120 min)</a:t>
            </a:r>
          </a:p>
        </p:txBody>
      </p:sp>
      <p:sp>
        <p:nvSpPr>
          <p:cNvPr id="42" name="Rounded Rectangle 41"/>
          <p:cNvSpPr/>
          <p:nvPr/>
        </p:nvSpPr>
        <p:spPr>
          <a:xfrm>
            <a:off x="10159745" y="4169664"/>
            <a:ext cx="1620469" cy="795527"/>
          </a:xfrm>
          <a:prstGeom prst="roundRect">
            <a:avLst>
              <a:gd name="adj" fmla="val 9195"/>
            </a:avLst>
          </a:prstGeom>
          <a:solidFill>
            <a:srgbClr val="FFFFFF"/>
          </a:solidFill>
          <a:ln w="15875">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251185" y="4242816"/>
            <a:ext cx="1437589" cy="649223"/>
          </a:xfrm>
          <a:prstGeom prst="rect">
            <a:avLst/>
          </a:prstGeom>
          <a:noFill/>
        </p:spPr>
        <p:txBody>
          <a:bodyPr wrap="square" anchor="t" lIns="0" rIns="0" tIns="0" bIns="0">
            <a:spAutoFit/>
          </a:bodyPr>
          <a:lstStyle/>
          <a:p>
            <a:pPr algn="l">
              <a:lnSpc>
                <a:spcPct val="100000"/>
              </a:lnSpc>
            </a:pPr>
            <a:r>
              <a:rPr sz="1200" b="1" i="0">
                <a:solidFill>
                  <a:srgbClr val="0B1F3A"/>
                </a:solidFill>
                <a:latin typeface="Calibri"/>
              </a:rPr>
              <a:t>Risk + explanation</a:t>
            </a:r>
          </a:p>
          <a:p>
            <a:pPr algn="l">
              <a:lnSpc>
                <a:spcPct val="100000"/>
              </a:lnSpc>
            </a:pPr>
            <a:r>
              <a:rPr sz="1050" b="0" i="0">
                <a:solidFill>
                  <a:srgbClr val="0B1F3A"/>
                </a:solidFill>
                <a:latin typeface="Calibri"/>
              </a:rPr>
              <a:t>Probability, prototype band, top inputs, data-quality warnings</a:t>
            </a:r>
          </a:p>
        </p:txBody>
      </p:sp>
      <p:sp>
        <p:nvSpPr>
          <p:cNvPr id="44" name="Rounded Rectangle 43"/>
          <p:cNvSpPr/>
          <p:nvPr/>
        </p:nvSpPr>
        <p:spPr>
          <a:xfrm>
            <a:off x="10159745" y="5093208"/>
            <a:ext cx="1620469" cy="795527"/>
          </a:xfrm>
          <a:prstGeom prst="roundRect">
            <a:avLst>
              <a:gd name="adj" fmla="val 9195"/>
            </a:avLst>
          </a:prstGeom>
          <a:solidFill>
            <a:srgbClr val="FFFFFF"/>
          </a:solidFill>
          <a:ln w="15875">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251185" y="5166360"/>
            <a:ext cx="1437589" cy="649223"/>
          </a:xfrm>
          <a:prstGeom prst="rect">
            <a:avLst/>
          </a:prstGeom>
          <a:noFill/>
        </p:spPr>
        <p:txBody>
          <a:bodyPr wrap="square" anchor="t" lIns="0" rIns="0" tIns="0" bIns="0">
            <a:spAutoFit/>
          </a:bodyPr>
          <a:lstStyle/>
          <a:p>
            <a:pPr algn="l">
              <a:lnSpc>
                <a:spcPct val="100000"/>
              </a:lnSpc>
            </a:pPr>
            <a:r>
              <a:rPr sz="1200" b="1" i="0">
                <a:solidFill>
                  <a:srgbClr val="0B1F3A"/>
                </a:solidFill>
                <a:latin typeface="Calibri"/>
              </a:rPr>
              <a:t>Clinician dashboard</a:t>
            </a:r>
          </a:p>
          <a:p>
            <a:pPr algn="l">
              <a:lnSpc>
                <a:spcPct val="100000"/>
              </a:lnSpc>
            </a:pPr>
            <a:r>
              <a:rPr sz="1050" b="0" i="0">
                <a:solidFill>
                  <a:srgbClr val="0B1F3A"/>
                </a:solidFill>
                <a:latin typeface="Calibri"/>
              </a:rPr>
              <a:t>Timeline, fusion view, what-if, evaluation</a:t>
            </a:r>
          </a:p>
        </p:txBody>
      </p:sp>
      <p:cxnSp>
        <p:nvCxnSpPr>
          <p:cNvPr id="46" name="Connector 45"/>
          <p:cNvCxnSpPr/>
          <p:nvPr/>
        </p:nvCxnSpPr>
        <p:spPr>
          <a:xfrm>
            <a:off x="2059381" y="4567428"/>
            <a:ext cx="274320" cy="233172"/>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059381" y="5257800"/>
            <a:ext cx="274320" cy="233172"/>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009034" y="5029200"/>
            <a:ext cx="274320" cy="0"/>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58687" y="5029200"/>
            <a:ext cx="274320" cy="0"/>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908340" y="5029200"/>
            <a:ext cx="274320" cy="0"/>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9857993" y="4567428"/>
            <a:ext cx="274321" cy="461772"/>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969980" y="4974336"/>
            <a:ext cx="0" cy="109728"/>
          </a:xfrm>
          <a:prstGeom prst="line">
            <a:avLst/>
          </a:prstGeom>
          <a:ln w="22225">
            <a:solidFill>
              <a:srgbClr val="5B6B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9601962" y="3428999"/>
            <a:ext cx="786383" cy="713233"/>
          </a:xfrm>
          <a:prstGeom prst="line">
            <a:avLst/>
          </a:prstGeom>
          <a:ln w="28575">
            <a:solidFill>
              <a:srgbClr val="0F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0434066" y="3538728"/>
            <a:ext cx="1371600" cy="201168"/>
          </a:xfrm>
          <a:prstGeom prst="rect">
            <a:avLst/>
          </a:prstGeom>
          <a:noFill/>
        </p:spPr>
        <p:txBody>
          <a:bodyPr wrap="square" anchor="t" lIns="0" rIns="0" tIns="0" bIns="0">
            <a:spAutoFit/>
          </a:bodyPr>
          <a:lstStyle/>
          <a:p>
            <a:pPr algn="l">
              <a:lnSpc>
                <a:spcPct val="105000"/>
              </a:lnSpc>
            </a:pPr>
            <a:r>
              <a:rPr sz="1000" b="1" i="0">
                <a:solidFill>
                  <a:srgbClr val="0F9D8F"/>
                </a:solidFill>
                <a:latin typeface="Calibri"/>
              </a:rPr>
              <a:t>load saved model</a:t>
            </a:r>
          </a:p>
        </p:txBody>
      </p:sp>
      <p:cxnSp>
        <p:nvCxnSpPr>
          <p:cNvPr id="55" name="Connector 54"/>
          <p:cNvCxnSpPr/>
          <p:nvPr/>
        </p:nvCxnSpPr>
        <p:spPr>
          <a:xfrm>
            <a:off x="10969980" y="5897880"/>
            <a:ext cx="0" cy="173736"/>
          </a:xfrm>
          <a:prstGeom prst="line">
            <a:avLst/>
          </a:prstGeom>
          <a:ln w="25400">
            <a:solidFill>
              <a:srgbClr val="9A5B00"/>
            </a:solidFill>
            <a:prstDash val="lg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7070674" y="6071616"/>
            <a:ext cx="3899306" cy="0"/>
          </a:xfrm>
          <a:prstGeom prst="line">
            <a:avLst/>
          </a:prstGeom>
          <a:ln w="25400">
            <a:solidFill>
              <a:srgbClr val="9A5B00"/>
            </a:solidFill>
            <a:prstDash val="lg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7070674" y="5907024"/>
            <a:ext cx="0" cy="164592"/>
          </a:xfrm>
          <a:prstGeom prst="line">
            <a:avLst/>
          </a:prstGeom>
          <a:ln w="25400">
            <a:solidFill>
              <a:srgbClr val="9A5B00"/>
            </a:solidFill>
            <a:prstDash val="lgDash"/>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207834" y="6099048"/>
            <a:ext cx="5486400" cy="228600"/>
          </a:xfrm>
          <a:prstGeom prst="rect">
            <a:avLst/>
          </a:prstGeom>
          <a:noFill/>
        </p:spPr>
        <p:txBody>
          <a:bodyPr wrap="square" anchor="t" lIns="0" rIns="0" tIns="0" bIns="0">
            <a:spAutoFit/>
          </a:bodyPr>
          <a:lstStyle/>
          <a:p>
            <a:pPr algn="l">
              <a:lnSpc>
                <a:spcPct val="105000"/>
              </a:lnSpc>
            </a:pPr>
            <a:r>
              <a:rPr sz="1000" b="1" i="0">
                <a:solidFill>
                  <a:srgbClr val="9A5B00"/>
                </a:solidFill>
                <a:latin typeface="Calibri"/>
              </a:rPr>
              <a:t>advance clock · manual reading · what-if  →  recompute features  →  new forecast</a:t>
            </a:r>
          </a:p>
        </p:txBody>
      </p:sp>
      <p:sp>
        <p:nvSpPr>
          <p:cNvPr id="59" name="Rounded Rectangle 58"/>
          <p:cNvSpPr/>
          <p:nvPr/>
        </p:nvSpPr>
        <p:spPr>
          <a:xfrm>
            <a:off x="411480" y="6501384"/>
            <a:ext cx="201168" cy="146304"/>
          </a:xfrm>
          <a:prstGeom prst="roundRect">
            <a:avLst>
              <a:gd name="adj" fmla="val 50000"/>
            </a:avLst>
          </a:prstGeom>
          <a:solidFill>
            <a:srgbClr val="EFE9F7"/>
          </a:solidFill>
          <a:ln w="15875">
            <a:solidFill>
              <a:srgbClr val="5E469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85800" y="6473952"/>
            <a:ext cx="1645920" cy="228600"/>
          </a:xfrm>
          <a:prstGeom prst="rect">
            <a:avLst/>
          </a:prstGeom>
          <a:noFill/>
        </p:spPr>
        <p:txBody>
          <a:bodyPr wrap="square" anchor="t" lIns="0" rIns="0" tIns="0" bIns="0">
            <a:spAutoFit/>
          </a:bodyPr>
          <a:lstStyle/>
          <a:p>
            <a:pPr algn="l">
              <a:lnSpc>
                <a:spcPct val="105000"/>
              </a:lnSpc>
            </a:pPr>
            <a:r>
              <a:rPr sz="1000" b="0" i="0">
                <a:solidFill>
                  <a:srgbClr val="5B6B82"/>
                </a:solidFill>
                <a:latin typeface="Calibri"/>
              </a:rPr>
              <a:t>historical EHR stream</a:t>
            </a:r>
          </a:p>
        </p:txBody>
      </p:sp>
      <p:sp>
        <p:nvSpPr>
          <p:cNvPr id="61" name="Rounded Rectangle 60"/>
          <p:cNvSpPr/>
          <p:nvPr/>
        </p:nvSpPr>
        <p:spPr>
          <a:xfrm>
            <a:off x="2331720" y="6501384"/>
            <a:ext cx="201168" cy="146304"/>
          </a:xfrm>
          <a:prstGeom prst="roundRect">
            <a:avLst>
              <a:gd name="adj" fmla="val 50000"/>
            </a:avLst>
          </a:prstGeom>
          <a:solidFill>
            <a:srgbClr val="E5EEF9"/>
          </a:solidFill>
          <a:ln w="15875">
            <a:solidFill>
              <a:srgbClr val="24497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2606040" y="6473952"/>
            <a:ext cx="1645920" cy="228600"/>
          </a:xfrm>
          <a:prstGeom prst="rect">
            <a:avLst/>
          </a:prstGeom>
          <a:noFill/>
        </p:spPr>
        <p:txBody>
          <a:bodyPr wrap="square" anchor="t" lIns="0" rIns="0" tIns="0" bIns="0">
            <a:spAutoFit/>
          </a:bodyPr>
          <a:lstStyle/>
          <a:p>
            <a:pPr algn="l">
              <a:lnSpc>
                <a:spcPct val="105000"/>
              </a:lnSpc>
            </a:pPr>
            <a:r>
              <a:rPr sz="1000" b="0" i="0">
                <a:solidFill>
                  <a:srgbClr val="5B6B82"/>
                </a:solidFill>
                <a:latin typeface="Calibri"/>
              </a:rPr>
              <a:t>dynamic sensor stream</a:t>
            </a:r>
          </a:p>
        </p:txBody>
      </p:sp>
      <p:sp>
        <p:nvSpPr>
          <p:cNvPr id="63" name="Rounded Rectangle 62"/>
          <p:cNvSpPr/>
          <p:nvPr/>
        </p:nvSpPr>
        <p:spPr>
          <a:xfrm>
            <a:off x="4251960" y="6501384"/>
            <a:ext cx="201168" cy="146304"/>
          </a:xfrm>
          <a:prstGeom prst="roundRect">
            <a:avLst>
              <a:gd name="adj" fmla="val 50000"/>
            </a:avLst>
          </a:prstGeom>
          <a:solidFill>
            <a:srgbClr val="FFFFFF"/>
          </a:solidFill>
          <a:ln w="15875">
            <a:solidFill>
              <a:srgbClr val="5B6B82"/>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4526280" y="6473952"/>
            <a:ext cx="3108960" cy="228600"/>
          </a:xfrm>
          <a:prstGeom prst="rect">
            <a:avLst/>
          </a:prstGeom>
          <a:noFill/>
        </p:spPr>
        <p:txBody>
          <a:bodyPr wrap="square" anchor="t" lIns="0" rIns="0" tIns="0" bIns="0">
            <a:spAutoFit/>
          </a:bodyPr>
          <a:lstStyle/>
          <a:p>
            <a:pPr algn="l">
              <a:lnSpc>
                <a:spcPct val="105000"/>
              </a:lnSpc>
            </a:pPr>
            <a:r>
              <a:rPr sz="1000" b="0" i="0">
                <a:solidFill>
                  <a:srgbClr val="5B6B82"/>
                </a:solidFill>
                <a:latin typeface="Calibri"/>
              </a:rPr>
              <a:t>dashed = simulated, not a live integration</a:t>
            </a:r>
          </a:p>
        </p:txBody>
      </p:sp>
      <p:sp>
        <p:nvSpPr>
          <p:cNvPr id="65" name="TextBox 64"/>
          <p:cNvSpPr txBox="1"/>
          <p:nvPr/>
        </p:nvSpPr>
        <p:spPr>
          <a:xfrm>
            <a:off x="7635240" y="6473952"/>
            <a:ext cx="4206240" cy="228600"/>
          </a:xfrm>
          <a:prstGeom prst="rect">
            <a:avLst/>
          </a:prstGeom>
          <a:noFill/>
        </p:spPr>
        <p:txBody>
          <a:bodyPr wrap="square" anchor="t" lIns="0" rIns="0" tIns="0" bIns="0">
            <a:spAutoFit/>
          </a:bodyPr>
          <a:lstStyle/>
          <a:p>
            <a:pPr algn="l">
              <a:lnSpc>
                <a:spcPct val="105000"/>
              </a:lnSpc>
            </a:pPr>
            <a:r>
              <a:rPr sz="1000" b="1" i="0">
                <a:solidFill>
                  <a:srgbClr val="9A5B00"/>
                </a:solidFill>
                <a:latin typeface="Calibri"/>
              </a:rPr>
              <a:t>All data synthetic · research prototype · not a medical device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